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C453D"/>
    <a:srgbClr val="9DD5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1704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67773" y="1909676"/>
            <a:ext cx="45720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C453D"/>
                </a:solidFill>
              </a:defRPr>
            </a:pPr>
            <a:r>
              <a:rPr lang="sr-Cyrl-RS" sz="3200" b="1" dirty="0" smtClean="0"/>
              <a:t>Анализа сентимента крипто заједнице на друштвеним мрежама помоћу машинског учења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93215" y="6158884"/>
            <a:ext cx="290816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4495E"/>
                </a:solidFill>
              </a:defRPr>
            </a:pPr>
            <a:r>
              <a:rPr lang="sr-Cyrl-RS" sz="3200" dirty="0" smtClean="0">
                <a:solidFill>
                  <a:srgbClr val="9DD5C8"/>
                </a:solidFill>
              </a:rPr>
              <a:t>Дипломски рад</a:t>
            </a:r>
            <a:endParaRPr sz="3200" dirty="0">
              <a:solidFill>
                <a:srgbClr val="9DD5C8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906175" y="6112717"/>
            <a:ext cx="2994794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sr-Cyrl-RS" sz="1900" b="1" dirty="0" smtClean="0">
                <a:solidFill>
                  <a:srgbClr val="1C453D"/>
                </a:solidFill>
              </a:rPr>
              <a:t>Универзитет у Новом Саду</a:t>
            </a:r>
            <a:endParaRPr lang="en-US" sz="1900" b="1" dirty="0" smtClean="0">
              <a:solidFill>
                <a:srgbClr val="1C453D"/>
              </a:solidFill>
            </a:endParaRPr>
          </a:p>
          <a:p>
            <a:r>
              <a:rPr lang="sr-Cyrl-RS" sz="1900" b="1" dirty="0" smtClean="0">
                <a:solidFill>
                  <a:srgbClr val="1C453D"/>
                </a:solidFill>
              </a:rPr>
              <a:t>Факултет техничких наука</a:t>
            </a:r>
            <a:endParaRPr sz="1900" b="1" dirty="0">
              <a:solidFill>
                <a:srgbClr val="1C453D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 flipH="1">
            <a:off x="3906175" y="4937836"/>
            <a:ext cx="501588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lang="sr-Cyrl-RS" sz="1900" b="1" dirty="0" smtClean="0">
                <a:solidFill>
                  <a:srgbClr val="1C453D"/>
                </a:solidFill>
              </a:rPr>
              <a:t>Ментор: др Душан Гајић, ванредни професор</a:t>
            </a:r>
            <a:endParaRPr lang="en-US" sz="1900" b="1" dirty="0" smtClean="0">
              <a:solidFill>
                <a:srgbClr val="1C453D"/>
              </a:solidFill>
            </a:endParaRPr>
          </a:p>
          <a:p>
            <a:pPr>
              <a:defRPr sz="1400">
                <a:solidFill>
                  <a:srgbClr val="34495E"/>
                </a:solidFill>
              </a:defRPr>
            </a:pPr>
            <a:r>
              <a:rPr lang="sr-Cyrl-RS" sz="1900" b="1" dirty="0" smtClean="0">
                <a:solidFill>
                  <a:srgbClr val="1C453D"/>
                </a:solidFill>
              </a:rPr>
              <a:t>Кандидат</a:t>
            </a:r>
            <a:r>
              <a:rPr lang="en-US" sz="1900" b="1" dirty="0" smtClean="0">
                <a:solidFill>
                  <a:srgbClr val="1C453D"/>
                </a:solidFill>
              </a:rPr>
              <a:t>: </a:t>
            </a:r>
            <a:r>
              <a:rPr lang="sr-Cyrl-RS" sz="1900" b="1" dirty="0" smtClean="0">
                <a:solidFill>
                  <a:srgbClr val="1C453D"/>
                </a:solidFill>
              </a:rPr>
              <a:t>Борис Летић </a:t>
            </a:r>
            <a:r>
              <a:rPr lang="en-US" sz="1900" b="1" dirty="0" smtClean="0">
                <a:solidFill>
                  <a:srgbClr val="1C453D"/>
                </a:solidFill>
              </a:rPr>
              <a:t>RA </a:t>
            </a:r>
            <a:r>
              <a:rPr lang="en-US" sz="1900" b="1" dirty="0" smtClean="0">
                <a:solidFill>
                  <a:srgbClr val="1C453D"/>
                </a:solidFill>
              </a:rPr>
              <a:t>207/2021</a:t>
            </a:r>
          </a:p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FF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480240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Проблем и мотивација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2887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 smtClean="0"/>
              <a:t>Традиционални приступ анализи јавног мишљења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Ручна анализа хиљада твитова </a:t>
            </a:r>
            <a:r>
              <a:rPr lang="en-US" dirty="0" smtClean="0"/>
              <a:t>–</a:t>
            </a:r>
            <a:r>
              <a:rPr dirty="0" smtClean="0"/>
              <a:t> </a:t>
            </a:r>
            <a:r>
              <a:rPr lang="sr-Cyrl-RS" dirty="0" smtClean="0"/>
              <a:t>немогућа у реалном времену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Субјективност људске интерпретације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Високи трошкови и време потребно за анализу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Недостатак скалабилности</a:t>
            </a:r>
            <a:endParaRPr dirty="0"/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 smtClean="0"/>
              <a:t>Последице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Инвеститори и аналитичари не могу ефикасно пратити сентимент крипто заједнице</a:t>
            </a:r>
            <a:r>
              <a:rPr dirty="0" smtClean="0"/>
              <a:t>.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Пропуштене инвестиционе прилике због недостатка брзих увида</a:t>
            </a:r>
            <a:r>
              <a:rPr dirty="0" smtClean="0"/>
              <a:t>.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218040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Циљ рада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2560320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9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4084" y="1917115"/>
            <a:ext cx="28248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C453D"/>
                </a:solidFill>
              </a:defRPr>
            </a:pPr>
            <a:r>
              <a:rPr lang="sr-Cyrl-RS" dirty="0" smtClean="0"/>
              <a:t>Аутоматска класификација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2194560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rPr lang="ru-RU" dirty="0"/>
              <a:t>Развој система за аутоматску класификацију </a:t>
            </a:r>
            <a:r>
              <a:rPr lang="en-US" dirty="0" smtClean="0"/>
              <a:t>Twitter</a:t>
            </a:r>
            <a:r>
              <a:rPr lang="ru-RU" dirty="0" smtClean="0"/>
              <a:t> </a:t>
            </a:r>
            <a:r>
              <a:rPr lang="ru-RU" dirty="0"/>
              <a:t>сентимента у три категорије: позитиван, негативан и неутралан.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3383280" y="1828800"/>
            <a:ext cx="2560320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9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43491" y="2103120"/>
            <a:ext cx="2439899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C453D"/>
                </a:solidFill>
              </a:defRPr>
            </a:pPr>
            <a:r>
              <a:rPr lang="sr-Cyrl-RS" dirty="0"/>
              <a:t>Поређење </a:t>
            </a:r>
            <a:r>
              <a:rPr lang="en-US" dirty="0" smtClean="0"/>
              <a:t>ML</a:t>
            </a:r>
            <a:r>
              <a:rPr lang="sr-Cyrl-RS" dirty="0" smtClean="0"/>
              <a:t> </a:t>
            </a:r>
            <a:r>
              <a:rPr lang="sr-Cyrl-RS" dirty="0"/>
              <a:t>Модела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651760"/>
            <a:ext cx="219456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rPr lang="ru-RU" dirty="0"/>
              <a:t>Имплементација и евалуација три различита приступа: </a:t>
            </a:r>
            <a:r>
              <a:rPr lang="en-US" dirty="0" smtClean="0"/>
              <a:t>Naive Bayes</a:t>
            </a:r>
            <a:r>
              <a:rPr lang="ru-RU" dirty="0" smtClean="0"/>
              <a:t>, </a:t>
            </a:r>
            <a:r>
              <a:rPr lang="en-US" dirty="0" smtClean="0"/>
              <a:t>SVM</a:t>
            </a:r>
            <a:r>
              <a:rPr lang="ru-RU" dirty="0" smtClean="0"/>
              <a:t> </a:t>
            </a:r>
            <a:r>
              <a:rPr lang="ru-RU" dirty="0"/>
              <a:t>и </a:t>
            </a:r>
            <a:r>
              <a:rPr lang="en-US" dirty="0" smtClean="0"/>
              <a:t>BERT</a:t>
            </a:r>
            <a:r>
              <a:rPr lang="ru-RU" dirty="0" smtClean="0"/>
              <a:t> </a:t>
            </a:r>
            <a:r>
              <a:rPr lang="ru-RU" dirty="0"/>
              <a:t>трансформер модел.</a:t>
            </a:r>
            <a:endParaRPr dirty="0"/>
          </a:p>
        </p:txBody>
      </p:sp>
      <p:sp>
        <p:nvSpPr>
          <p:cNvPr id="10" name="Rectangle 9"/>
          <p:cNvSpPr/>
          <p:nvPr/>
        </p:nvSpPr>
        <p:spPr>
          <a:xfrm>
            <a:off x="6309360" y="1828800"/>
            <a:ext cx="2560320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9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91404" y="2103120"/>
            <a:ext cx="239623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C453D"/>
                </a:solidFill>
              </a:defRPr>
            </a:pPr>
            <a:r>
              <a:rPr lang="sr-Cyrl-RS" dirty="0" smtClean="0"/>
              <a:t>Корелациона анализа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6492240" y="2651760"/>
            <a:ext cx="219456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rPr lang="ru-RU" dirty="0"/>
              <a:t>Анализа статистичке повезаности између </a:t>
            </a:r>
            <a:r>
              <a:rPr lang="en-US" dirty="0" smtClean="0"/>
              <a:t>Twitter</a:t>
            </a:r>
            <a:r>
              <a:rPr lang="ru-RU" dirty="0" smtClean="0"/>
              <a:t> </a:t>
            </a:r>
            <a:r>
              <a:rPr lang="ru-RU" dirty="0"/>
              <a:t>сентимента и цене </a:t>
            </a:r>
            <a:r>
              <a:rPr lang="en-US" dirty="0" smtClean="0"/>
              <a:t>Bitcoin</a:t>
            </a:r>
            <a:r>
              <a:rPr lang="ru-RU" dirty="0" smtClean="0"/>
              <a:t>-а</a:t>
            </a:r>
            <a:r>
              <a:rPr lang="ru-RU" dirty="0"/>
              <a:t>.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6058069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Анализа сентимента - основе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2887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 smtClean="0"/>
              <a:t>Дефиниција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Аутоматска детекција субјективности и емоција у текстуалним подацима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Грана </a:t>
            </a:r>
            <a:r>
              <a:rPr lang="en-US" dirty="0" smtClean="0"/>
              <a:t>Natural Language Processing </a:t>
            </a:r>
            <a:r>
              <a:rPr lang="ru-RU" dirty="0" smtClean="0"/>
              <a:t>(</a:t>
            </a:r>
            <a:r>
              <a:rPr lang="en-US" dirty="0" smtClean="0"/>
              <a:t>NLP</a:t>
            </a:r>
            <a:r>
              <a:rPr lang="ru-RU" dirty="0" smtClean="0"/>
              <a:t>) </a:t>
            </a:r>
            <a:r>
              <a:rPr lang="ru-RU" dirty="0"/>
              <a:t>технологије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Класификација текста у сентимент категорије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 smtClean="0"/>
              <a:t>Примена у финансијама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Предвиђање тржишних трендова на основу јавног мишљења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Анализа сентимента инвеститора пре доношења одлука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en-US" dirty="0" smtClean="0"/>
              <a:t>Real-Time</a:t>
            </a:r>
            <a:r>
              <a:rPr lang="ru-RU" dirty="0" smtClean="0"/>
              <a:t> </a:t>
            </a:r>
            <a:r>
              <a:rPr lang="ru-RU" dirty="0"/>
              <a:t>праћење перцепције бренда и производа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5536900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Модели машинског учења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256032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C453D"/>
                </a:solidFill>
              </a:defRPr>
            </a:pPr>
            <a:r>
              <a:t>Naive Bayes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2194560" cy="1123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</a:t>
            </a:r>
            <a:r>
              <a:rPr lang="sr-Cyrl-RS" dirty="0" smtClean="0"/>
              <a:t>Пробабилистички приступ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TF-IDF </a:t>
            </a:r>
            <a:r>
              <a:rPr lang="sr-Cyrl-RS" dirty="0" smtClean="0"/>
              <a:t>векторизација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</a:t>
            </a:r>
            <a:r>
              <a:rPr lang="sr-Cyrl-RS" dirty="0" smtClean="0"/>
              <a:t>Брзо тренирање </a:t>
            </a:r>
            <a:r>
              <a:rPr dirty="0" smtClean="0"/>
              <a:t>(~10</a:t>
            </a:r>
            <a:r>
              <a:rPr lang="sr-Cyrl-RS" dirty="0" smtClean="0"/>
              <a:t>с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</a:t>
            </a:r>
            <a:r>
              <a:rPr lang="sr-Cyrl-RS" dirty="0" smtClean="0"/>
              <a:t>Добро за </a:t>
            </a:r>
            <a:r>
              <a:rPr dirty="0" smtClean="0"/>
              <a:t>baseline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3383280" y="2011680"/>
            <a:ext cx="256032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66160" y="21945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C453D"/>
                </a:solidFill>
              </a:defRPr>
            </a:pPr>
            <a:r>
              <a:t>SVM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743200"/>
            <a:ext cx="2194560" cy="1123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Support Vector Machine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RBF kernel </a:t>
            </a:r>
            <a:r>
              <a:rPr lang="sr-Cyrl-RS" dirty="0" smtClean="0"/>
              <a:t>функција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</a:t>
            </a:r>
            <a:r>
              <a:rPr dirty="0" err="1"/>
              <a:t>Hyperparameter</a:t>
            </a:r>
            <a:r>
              <a:rPr dirty="0"/>
              <a:t> tuning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</a:t>
            </a:r>
            <a:r>
              <a:rPr lang="sr-Cyrl-RS" dirty="0" smtClean="0"/>
              <a:t>Висока прецизност</a:t>
            </a:r>
            <a:endParaRPr dirty="0"/>
          </a:p>
        </p:txBody>
      </p:sp>
      <p:sp>
        <p:nvSpPr>
          <p:cNvPr id="10" name="Rectangle 9"/>
          <p:cNvSpPr/>
          <p:nvPr/>
        </p:nvSpPr>
        <p:spPr>
          <a:xfrm>
            <a:off x="6309360" y="2011680"/>
            <a:ext cx="2560320" cy="3474720"/>
          </a:xfrm>
          <a:prstGeom prst="rect">
            <a:avLst/>
          </a:prstGeom>
          <a:solidFill>
            <a:srgbClr val="1C453D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BERT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743200"/>
            <a:ext cx="2194560" cy="1123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rPr dirty="0"/>
              <a:t>• Transformer </a:t>
            </a:r>
            <a:r>
              <a:rPr lang="sr-Cyrl-RS" dirty="0" smtClean="0"/>
              <a:t>архитектура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rPr dirty="0"/>
              <a:t>• Pre-trained </a:t>
            </a:r>
            <a:r>
              <a:rPr lang="sr-Cyrl-RS" dirty="0" smtClean="0"/>
              <a:t>модел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rPr dirty="0"/>
              <a:t>• Fine-tuning </a:t>
            </a:r>
            <a:r>
              <a:rPr lang="sr-Cyrl-RS" dirty="0" smtClean="0"/>
              <a:t>приступ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rPr dirty="0"/>
              <a:t>• State-of-the-art </a:t>
            </a:r>
            <a:r>
              <a:rPr lang="sr-Cyrl-RS" dirty="0" smtClean="0"/>
              <a:t>резултати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4789773" cy="646331"/>
          </a:xfrm>
          <a:prstGeom prst="rect">
            <a:avLst/>
          </a:prstGeom>
          <a:solidFill>
            <a:srgbClr val="9DD5C8"/>
          </a:solidFill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dirty="0"/>
              <a:t>Dataset </a:t>
            </a:r>
            <a:r>
              <a:rPr lang="sr-Cyrl-RS" dirty="0" smtClean="0"/>
              <a:t>и</a:t>
            </a:r>
            <a:r>
              <a:rPr dirty="0" smtClean="0"/>
              <a:t> </a:t>
            </a:r>
            <a:r>
              <a:rPr dirty="0"/>
              <a:t>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3857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Bitcoin Twitter Dataset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5,000 </a:t>
            </a:r>
            <a:r>
              <a:rPr lang="sr-Cyrl-RS" dirty="0" smtClean="0"/>
              <a:t>твитова о </a:t>
            </a:r>
            <a:r>
              <a:rPr dirty="0" smtClean="0"/>
              <a:t>Bitcoin-</a:t>
            </a:r>
            <a:r>
              <a:rPr lang="sr-Cyrl-RS" dirty="0" smtClean="0"/>
              <a:t>у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Ручно анотиран </a:t>
            </a:r>
            <a:r>
              <a:rPr dirty="0" smtClean="0"/>
              <a:t>dataset </a:t>
            </a:r>
            <a:r>
              <a:rPr dirty="0"/>
              <a:t>(positive/negative/neutral)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Временски период</a:t>
            </a:r>
            <a:r>
              <a:rPr dirty="0" smtClean="0"/>
              <a:t>: </a:t>
            </a:r>
            <a:r>
              <a:rPr lang="sr-Cyrl-RS" dirty="0" smtClean="0"/>
              <a:t>Јануар</a:t>
            </a:r>
            <a:r>
              <a:rPr dirty="0" smtClean="0"/>
              <a:t> </a:t>
            </a:r>
            <a:r>
              <a:rPr dirty="0"/>
              <a:t>- </a:t>
            </a:r>
            <a:r>
              <a:rPr lang="sr-Cyrl-RS" dirty="0" smtClean="0"/>
              <a:t>Мај</a:t>
            </a:r>
            <a:r>
              <a:rPr dirty="0" smtClean="0"/>
              <a:t> </a:t>
            </a:r>
            <a:r>
              <a:rPr dirty="0"/>
              <a:t>2024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Балансиран</a:t>
            </a:r>
            <a:r>
              <a:rPr dirty="0" smtClean="0"/>
              <a:t> </a:t>
            </a:r>
            <a:r>
              <a:rPr dirty="0"/>
              <a:t>dataset </a:t>
            </a:r>
            <a:r>
              <a:rPr lang="sr-Cyrl-RS" dirty="0" smtClean="0"/>
              <a:t>по класама</a:t>
            </a:r>
            <a:endParaRPr dirty="0"/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Text Preprocessing Pipeline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Уклањање</a:t>
            </a:r>
            <a:r>
              <a:rPr dirty="0" smtClean="0"/>
              <a:t> URL-</a:t>
            </a:r>
            <a:r>
              <a:rPr lang="sr-Cyrl-RS" dirty="0" smtClean="0"/>
              <a:t>ова</a:t>
            </a:r>
            <a:r>
              <a:rPr dirty="0" smtClean="0"/>
              <a:t>, </a:t>
            </a:r>
            <a:r>
              <a:rPr dirty="0"/>
              <a:t>mentions (@user) </a:t>
            </a:r>
            <a:r>
              <a:rPr lang="sr-Cyrl-RS" dirty="0" smtClean="0"/>
              <a:t>и</a:t>
            </a:r>
            <a:r>
              <a:rPr dirty="0" smtClean="0"/>
              <a:t> hashtag-</a:t>
            </a:r>
            <a:r>
              <a:rPr lang="sr-Cyrl-RS" dirty="0" smtClean="0"/>
              <a:t>ова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Lowercase </a:t>
            </a:r>
            <a:r>
              <a:rPr lang="sr-Cyrl-RS" dirty="0" smtClean="0"/>
              <a:t>трансформација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Токенизација</a:t>
            </a:r>
            <a:r>
              <a:rPr dirty="0" smtClean="0"/>
              <a:t> </a:t>
            </a:r>
            <a:r>
              <a:rPr dirty="0"/>
              <a:t>(NLTK)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Stop words removal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Lemmatization (</a:t>
            </a:r>
            <a:r>
              <a:rPr dirty="0" err="1"/>
              <a:t>WordNetLemmatizer</a:t>
            </a:r>
            <a:r>
              <a:rPr dirty="0"/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4988738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Коришћене технологије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rPr dirty="0"/>
              <a:t>Python 3.11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537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lang="sr-Cyrl-RS" dirty="0" smtClean="0"/>
              <a:t>Програмски језик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PyTorch 2.0+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26079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dirty="0"/>
              <a:t>Deep learning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7472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Transformers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49039"/>
            <a:ext cx="2189958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dirty="0"/>
              <a:t>Hugging Face BERT </a:t>
            </a:r>
            <a:r>
              <a:rPr lang="sr-Cyrl-RS" dirty="0" smtClean="0"/>
              <a:t>модели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914400" y="429768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scikit-learn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1693092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dirty="0"/>
              <a:t>Baseline ML </a:t>
            </a:r>
            <a:r>
              <a:rPr lang="sr-Cyrl-RS" dirty="0" smtClean="0"/>
              <a:t>модели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5029200" y="182880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NLTK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10312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t>Natural Language Processing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5176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pandas &amp; numpy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926079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t>Data manipulation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7472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matplotlib &amp; seaborn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49039"/>
            <a:ext cx="130266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lang="sr-Cyrl-RS" dirty="0" smtClean="0"/>
              <a:t>Визуализације</a:t>
            </a: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5029200" y="429768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yfinance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457200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dirty="0"/>
              <a:t>Bitcoin price data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4397101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Архитектура система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64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Data Pipeline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Data Collection → Twitter dataset (5,000 </a:t>
            </a:r>
            <a:r>
              <a:rPr lang="sr-Cyrl-RS" dirty="0" smtClean="0"/>
              <a:t>твитова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Preprocessing → Text cleaning </a:t>
            </a:r>
            <a:r>
              <a:rPr lang="sr-Cyrl-RS" dirty="0" smtClean="0"/>
              <a:t>и токенизација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Feature Extraction → TF-IDF / BERT </a:t>
            </a:r>
            <a:r>
              <a:rPr dirty="0" err="1"/>
              <a:t>embeddings</a:t>
            </a:r>
            <a:endParaRPr dirty="0"/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Model Pipeline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Train/Test Split → 80% / 20%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Model Training → Naive Bayes, SVM, BERT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 err="1"/>
              <a:t>Hyperparameter</a:t>
            </a:r>
            <a:r>
              <a:rPr dirty="0"/>
              <a:t> Tuning → </a:t>
            </a:r>
            <a:r>
              <a:rPr dirty="0" err="1"/>
              <a:t>GridSearchCV</a:t>
            </a:r>
            <a:r>
              <a:rPr dirty="0"/>
              <a:t> / Manual tuning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Evaluation → Accuracy, Precision, Recall, F1-Score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Analysis Pipeline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Bitcoin Price Data → </a:t>
            </a:r>
            <a:r>
              <a:rPr dirty="0" err="1"/>
              <a:t>yfinance</a:t>
            </a:r>
            <a:r>
              <a:rPr dirty="0"/>
              <a:t> API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Sentiment Scoring → -1 (negative) </a:t>
            </a:r>
            <a:r>
              <a:rPr lang="sr-Cyrl-RS" dirty="0" smtClean="0"/>
              <a:t>до</a:t>
            </a:r>
            <a:r>
              <a:rPr dirty="0" smtClean="0"/>
              <a:t> </a:t>
            </a:r>
            <a:r>
              <a:rPr dirty="0"/>
              <a:t>+1 (positive)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Statistical Analysis → Pearson &amp; Spearman correlation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5627503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Процес тренирања модела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3857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Training Setup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80/20 Train-Test Split (4,000 / 1,000 </a:t>
            </a:r>
            <a:r>
              <a:rPr lang="sr-Cyrl-RS" dirty="0" smtClean="0"/>
              <a:t>твитова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5-Fold Cross Validation </a:t>
            </a:r>
            <a:r>
              <a:rPr lang="sr-Cyrl-RS" dirty="0" smtClean="0"/>
              <a:t>за све моделе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GPU Acceleration: NVIDIA RTX 4060 (8GB VRAM)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Batch Size: 16 (BERT), Full dataset (NB, SVM)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BERT Fine-Tuning </a:t>
            </a:r>
            <a:r>
              <a:rPr lang="sr-Cyrl-RS" dirty="0" smtClean="0"/>
              <a:t>специфичности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Pre-trained model: </a:t>
            </a:r>
            <a:r>
              <a:rPr dirty="0" err="1"/>
              <a:t>bert</a:t>
            </a:r>
            <a:r>
              <a:rPr dirty="0"/>
              <a:t>-base-uncased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Learning rate: 2e-5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Epochs: 3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Max sequence length: 128 tokens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Optimizer: </a:t>
            </a:r>
            <a:r>
              <a:rPr dirty="0" err="1"/>
              <a:t>AdamW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766560" y="1783080"/>
            <a:ext cx="1828800" cy="54864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937760" y="1783080"/>
            <a:ext cx="1828800" cy="54864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108960" y="1783080"/>
            <a:ext cx="1828800" cy="54864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80160" y="1783080"/>
            <a:ext cx="1828800" cy="54864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697620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Резултати – перформансе модела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1797144" y="1828800"/>
            <a:ext cx="79483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 lang="sr-Cyrl-RS" dirty="0" smtClean="0">
                <a:solidFill>
                  <a:srgbClr val="1C453D"/>
                </a:solidFill>
              </a:rPr>
              <a:t>Модел</a:t>
            </a:r>
            <a:endParaRPr dirty="0">
              <a:solidFill>
                <a:srgbClr val="1C453D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406043" y="1828800"/>
            <a:ext cx="123463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 lang="sr-Cyrl-RS" dirty="0" smtClean="0">
                <a:solidFill>
                  <a:srgbClr val="1C453D"/>
                </a:solidFill>
              </a:rPr>
              <a:t>Прецизност</a:t>
            </a:r>
            <a:endParaRPr dirty="0">
              <a:solidFill>
                <a:srgbClr val="1C453D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95207" y="1828800"/>
            <a:ext cx="91390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 dirty="0">
                <a:solidFill>
                  <a:srgbClr val="1C453D"/>
                </a:solidFill>
              </a:rPr>
              <a:t>F1-Score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9852" y="1828800"/>
            <a:ext cx="180222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 lang="sr-Cyrl-RS" dirty="0" smtClean="0">
                <a:solidFill>
                  <a:srgbClr val="1C453D"/>
                </a:solidFill>
              </a:rPr>
              <a:t>Време тренирања</a:t>
            </a:r>
            <a:endParaRPr dirty="0">
              <a:solidFill>
                <a:srgbClr val="1C453D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371600" y="24688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4495E"/>
                </a:solidFill>
              </a:defRPr>
            </a:pPr>
            <a:r>
              <a:t>Naive Bayes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4688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90.87%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4688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0.8814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887" y="2468880"/>
            <a:ext cx="1188147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rPr dirty="0"/>
              <a:t>~10 </a:t>
            </a:r>
            <a:r>
              <a:rPr lang="sr-Cyrl-RS" dirty="0" smtClean="0"/>
              <a:t>секунди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1371600" y="31089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4495E"/>
                </a:solidFill>
              </a:defRPr>
            </a:pPr>
            <a:r>
              <a:t>SVM (RBF)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1089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95.24%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1089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0.9495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887" y="3108960"/>
            <a:ext cx="1188147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rPr dirty="0"/>
              <a:t>~45 </a:t>
            </a:r>
            <a:r>
              <a:rPr lang="sr-Cyrl-RS" dirty="0" smtClean="0"/>
              <a:t>секунди</a:t>
            </a:r>
            <a:endParaRPr dirty="0"/>
          </a:p>
        </p:txBody>
      </p:sp>
      <p:sp>
        <p:nvSpPr>
          <p:cNvPr id="20" name="TextBox 19"/>
          <p:cNvSpPr txBox="1"/>
          <p:nvPr/>
        </p:nvSpPr>
        <p:spPr>
          <a:xfrm>
            <a:off x="1371600" y="374904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4495E"/>
                </a:solidFill>
              </a:defRPr>
            </a:pPr>
            <a:r>
              <a:t>BERT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4904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94.84%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74904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0.9466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5291" y="3749040"/>
            <a:ext cx="1611339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rPr dirty="0"/>
              <a:t>~15 </a:t>
            </a:r>
            <a:r>
              <a:rPr lang="sr-Cyrl-RS" dirty="0" smtClean="0"/>
              <a:t>минута</a:t>
            </a:r>
            <a:r>
              <a:rPr dirty="0" smtClean="0"/>
              <a:t> </a:t>
            </a:r>
            <a:r>
              <a:rPr dirty="0"/>
              <a:t>(GPU)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572000"/>
            <a:ext cx="6400800" cy="109728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463040" y="4859030"/>
            <a:ext cx="6217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1C453D"/>
                </a:solidFill>
              </a:defRPr>
            </a:pPr>
            <a:r>
              <a:rPr dirty="0"/>
              <a:t>🏆 SVM </a:t>
            </a:r>
            <a:r>
              <a:rPr lang="sr-Cyrl-RS" dirty="0" smtClean="0"/>
              <a:t>постигао најбоље резултате </a:t>
            </a:r>
            <a:r>
              <a:rPr dirty="0" smtClean="0"/>
              <a:t>(95.24</a:t>
            </a:r>
            <a:r>
              <a:rPr dirty="0"/>
              <a:t>%), </a:t>
            </a:r>
            <a:r>
              <a:rPr lang="sr-Cyrl-RS" dirty="0" smtClean="0"/>
              <a:t>док је </a:t>
            </a:r>
            <a:r>
              <a:rPr dirty="0" smtClean="0"/>
              <a:t>BERT </a:t>
            </a:r>
            <a:r>
              <a:rPr lang="sr-Cyrl-RS" dirty="0" smtClean="0"/>
              <a:t>био други са </a:t>
            </a:r>
            <a:r>
              <a:rPr dirty="0" smtClean="0"/>
              <a:t>94.84</a:t>
            </a:r>
            <a:r>
              <a:rPr dirty="0"/>
              <a:t>%.</a:t>
            </a:r>
            <a:br>
              <a:rPr dirty="0"/>
            </a:br>
            <a:r>
              <a:rPr dirty="0"/>
              <a:t>Naive Bayes </a:t>
            </a:r>
            <a:r>
              <a:rPr lang="sr-Cyrl-RS" dirty="0" smtClean="0"/>
              <a:t>показао солидне </a:t>
            </a:r>
            <a:r>
              <a:rPr dirty="0" smtClean="0"/>
              <a:t>baseline </a:t>
            </a:r>
            <a:r>
              <a:rPr lang="sr-Cyrl-RS" dirty="0" smtClean="0"/>
              <a:t>перформансе</a:t>
            </a:r>
            <a:r>
              <a:rPr dirty="0" smtClean="0"/>
              <a:t> </a:t>
            </a:r>
            <a:r>
              <a:rPr dirty="0"/>
              <a:t>(90.87%).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7691977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Корелациона анализа </a:t>
            </a:r>
            <a:r>
              <a:rPr dirty="0" smtClean="0"/>
              <a:t>- </a:t>
            </a:r>
            <a:r>
              <a:rPr lang="sr-Cyrl-RS" dirty="0" smtClean="0"/>
              <a:t>методологија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64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Sentiment Scoring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Сваки твит класификован у 3 класе</a:t>
            </a:r>
            <a:r>
              <a:rPr dirty="0" smtClean="0"/>
              <a:t>: </a:t>
            </a:r>
            <a:r>
              <a:rPr lang="sr-Cyrl-RS" dirty="0" smtClean="0"/>
              <a:t>позитиван</a:t>
            </a:r>
            <a:r>
              <a:rPr dirty="0" smtClean="0"/>
              <a:t> </a:t>
            </a:r>
            <a:r>
              <a:rPr dirty="0"/>
              <a:t>(+1), </a:t>
            </a:r>
            <a:r>
              <a:rPr lang="sr-Cyrl-RS" dirty="0" smtClean="0"/>
              <a:t>неутралан</a:t>
            </a:r>
            <a:r>
              <a:rPr dirty="0" smtClean="0"/>
              <a:t> </a:t>
            </a:r>
            <a:r>
              <a:rPr dirty="0"/>
              <a:t>(0), </a:t>
            </a:r>
            <a:r>
              <a:rPr lang="sr-Cyrl-RS" dirty="0" smtClean="0"/>
              <a:t>негативан</a:t>
            </a:r>
            <a:r>
              <a:rPr dirty="0" smtClean="0"/>
              <a:t> </a:t>
            </a:r>
            <a:r>
              <a:rPr dirty="0"/>
              <a:t>(-1)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Дневни</a:t>
            </a:r>
            <a:r>
              <a:rPr dirty="0" smtClean="0"/>
              <a:t> </a:t>
            </a:r>
            <a:r>
              <a:rPr dirty="0"/>
              <a:t>sentiment score = </a:t>
            </a:r>
            <a:r>
              <a:rPr lang="sr-Cyrl-RS" dirty="0" smtClean="0"/>
              <a:t>просек свих твитова тог дана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Опсег вредности</a:t>
            </a:r>
            <a:r>
              <a:rPr dirty="0" smtClean="0"/>
              <a:t>: </a:t>
            </a:r>
            <a:r>
              <a:rPr dirty="0"/>
              <a:t>-1.0 </a:t>
            </a:r>
            <a:r>
              <a:rPr dirty="0" smtClean="0"/>
              <a:t>(</a:t>
            </a:r>
            <a:r>
              <a:rPr lang="sr-Cyrl-RS" dirty="0" smtClean="0"/>
              <a:t>врло негативан</a:t>
            </a:r>
            <a:r>
              <a:rPr dirty="0" smtClean="0"/>
              <a:t>) </a:t>
            </a:r>
            <a:r>
              <a:rPr lang="sr-Cyrl-RS" dirty="0" smtClean="0"/>
              <a:t>до</a:t>
            </a:r>
            <a:r>
              <a:rPr dirty="0" smtClean="0"/>
              <a:t> </a:t>
            </a:r>
            <a:r>
              <a:rPr dirty="0"/>
              <a:t>+1.0 </a:t>
            </a:r>
            <a:r>
              <a:rPr dirty="0" smtClean="0"/>
              <a:t>(</a:t>
            </a:r>
            <a:r>
              <a:rPr lang="sr-Cyrl-RS" dirty="0" smtClean="0"/>
              <a:t>врло позитиван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Bitcoin Price Data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Преузето преко </a:t>
            </a:r>
            <a:r>
              <a:rPr dirty="0" err="1" smtClean="0"/>
              <a:t>yfinance</a:t>
            </a:r>
            <a:r>
              <a:rPr dirty="0" smtClean="0"/>
              <a:t> </a:t>
            </a:r>
            <a:r>
              <a:rPr dirty="0"/>
              <a:t>API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Временски период</a:t>
            </a:r>
            <a:r>
              <a:rPr dirty="0" smtClean="0"/>
              <a:t>: </a:t>
            </a:r>
            <a:r>
              <a:rPr lang="sr-Cyrl-RS" dirty="0" smtClean="0"/>
              <a:t>Јануар</a:t>
            </a:r>
            <a:r>
              <a:rPr dirty="0" smtClean="0"/>
              <a:t> </a:t>
            </a:r>
            <a:r>
              <a:rPr dirty="0"/>
              <a:t>- </a:t>
            </a:r>
            <a:r>
              <a:rPr lang="sr-Cyrl-RS" dirty="0" smtClean="0"/>
              <a:t>Мај</a:t>
            </a:r>
            <a:r>
              <a:rPr dirty="0" smtClean="0"/>
              <a:t> </a:t>
            </a:r>
            <a:r>
              <a:rPr dirty="0"/>
              <a:t>2024 (106 </a:t>
            </a:r>
            <a:r>
              <a:rPr lang="sr-Cyrl-RS" dirty="0" smtClean="0"/>
              <a:t>дана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Метрике</a:t>
            </a:r>
            <a:r>
              <a:rPr dirty="0" smtClean="0"/>
              <a:t>: </a:t>
            </a:r>
            <a:r>
              <a:rPr dirty="0"/>
              <a:t>closing price, volume, daily change (%)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 smtClean="0"/>
              <a:t>Статистичка анализа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Pearson correlation </a:t>
            </a:r>
            <a:r>
              <a:rPr lang="en-US" dirty="0" smtClean="0"/>
              <a:t>–</a:t>
            </a:r>
            <a:r>
              <a:rPr dirty="0" smtClean="0"/>
              <a:t> </a:t>
            </a:r>
            <a:r>
              <a:rPr lang="sr-Cyrl-RS" dirty="0" smtClean="0"/>
              <a:t>линеарна веза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Spearman correlation </a:t>
            </a:r>
            <a:r>
              <a:rPr lang="en-US" dirty="0" smtClean="0"/>
              <a:t>–</a:t>
            </a:r>
            <a:r>
              <a:rPr dirty="0" smtClean="0"/>
              <a:t> </a:t>
            </a:r>
            <a:r>
              <a:rPr lang="sr-Cyrl-RS" dirty="0" smtClean="0"/>
              <a:t>монотона веза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Lag analysis </a:t>
            </a:r>
            <a:r>
              <a:rPr lang="en-US" dirty="0" smtClean="0"/>
              <a:t>–</a:t>
            </a:r>
            <a:r>
              <a:rPr dirty="0" smtClean="0"/>
              <a:t> </a:t>
            </a:r>
            <a:r>
              <a:rPr lang="sr-Cyrl-RS" dirty="0" smtClean="0"/>
              <a:t>провера временског кашњења </a:t>
            </a:r>
            <a:r>
              <a:rPr dirty="0" smtClean="0"/>
              <a:t>(-</a:t>
            </a:r>
            <a:r>
              <a:rPr dirty="0"/>
              <a:t>7 </a:t>
            </a:r>
            <a:r>
              <a:rPr lang="sr-Cyrl-RS" dirty="0" smtClean="0"/>
              <a:t>до</a:t>
            </a:r>
            <a:r>
              <a:rPr dirty="0" smtClean="0"/>
              <a:t> </a:t>
            </a:r>
            <a:r>
              <a:rPr dirty="0"/>
              <a:t>+7 </a:t>
            </a:r>
            <a:r>
              <a:rPr lang="sr-Cyrl-RS" dirty="0" smtClean="0"/>
              <a:t>дана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P-value &lt; 0.05 </a:t>
            </a:r>
            <a:r>
              <a:rPr lang="sr-Cyrl-RS" dirty="0" smtClean="0"/>
              <a:t>за статистичку значајност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6918497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Корелациона анализа - резултати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1920240"/>
            <a:ext cx="273703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C453D"/>
                </a:solidFill>
              </a:defRPr>
            </a:pPr>
            <a:r>
              <a:rPr dirty="0"/>
              <a:t>Sentiment vs Price </a:t>
            </a:r>
            <a:r>
              <a:rPr dirty="0" smtClean="0"/>
              <a:t>(</a:t>
            </a:r>
            <a:r>
              <a:rPr lang="sr-Cyrl-RS" dirty="0" smtClean="0"/>
              <a:t>тренутно</a:t>
            </a:r>
            <a:r>
              <a:rPr dirty="0" smtClean="0"/>
              <a:t>)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1188720" y="2194560"/>
            <a:ext cx="6766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dirty="0"/>
              <a:t>Pearson: r = 0.094, p = 0.337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423160"/>
            <a:ext cx="2239203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34495E"/>
                </a:solidFill>
              </a:defRPr>
            </a:pPr>
            <a:r>
              <a:rPr dirty="0"/>
              <a:t>❌ </a:t>
            </a:r>
            <a:r>
              <a:rPr lang="sr-Cyrl-RS" dirty="0" smtClean="0"/>
              <a:t>Није статистички значајно</a:t>
            </a:r>
            <a:endParaRPr dirty="0"/>
          </a:p>
        </p:txBody>
      </p:sp>
      <p:sp>
        <p:nvSpPr>
          <p:cNvPr id="8" name="Rectangle 7"/>
          <p:cNvSpPr/>
          <p:nvPr/>
        </p:nvSpPr>
        <p:spPr>
          <a:xfrm>
            <a:off x="914400" y="3017520"/>
            <a:ext cx="731520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3108960"/>
            <a:ext cx="197233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C453D"/>
                </a:solidFill>
              </a:defRPr>
            </a:pPr>
            <a:r>
              <a:rPr dirty="0"/>
              <a:t>Lag Analysis (6 </a:t>
            </a:r>
            <a:r>
              <a:rPr lang="sr-Cyrl-RS" dirty="0" smtClean="0"/>
              <a:t>дана</a:t>
            </a:r>
            <a:r>
              <a:rPr dirty="0" smtClean="0"/>
              <a:t>)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1188720" y="3383279"/>
            <a:ext cx="6766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t>Pearson: r = 0.226, p = 0.024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611879"/>
            <a:ext cx="199387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39C12"/>
                </a:solidFill>
              </a:defRPr>
            </a:pPr>
            <a:r>
              <a:rPr dirty="0"/>
              <a:t>✅ </a:t>
            </a:r>
            <a:r>
              <a:rPr lang="sr-Cyrl-RS" dirty="0" smtClean="0"/>
              <a:t>Статистички значајно!</a:t>
            </a: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914400" y="4206240"/>
            <a:ext cx="731520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4297679"/>
            <a:ext cx="160794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C453D"/>
                </a:solidFill>
              </a:defRPr>
            </a:pPr>
            <a:r>
              <a:rPr lang="sr-Cyrl-RS" dirty="0" smtClean="0"/>
              <a:t>Интерпретација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1188720" y="4572000"/>
            <a:ext cx="183095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lang="sr-Cyrl-RS" dirty="0" smtClean="0"/>
              <a:t>Цена води сентимент</a:t>
            </a:r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1188720" y="4800600"/>
            <a:ext cx="20794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34495E"/>
                </a:solidFill>
              </a:defRPr>
            </a:pPr>
            <a:r>
              <a:rPr lang="sr-Cyrl-RS" dirty="0" smtClean="0"/>
              <a:t>Сентимент реагује на цену</a:t>
            </a:r>
            <a:endParaRPr dirty="0"/>
          </a:p>
        </p:txBody>
      </p:sp>
      <p:sp>
        <p:nvSpPr>
          <p:cNvPr id="16" name="Rectangle 15"/>
          <p:cNvSpPr/>
          <p:nvPr/>
        </p:nvSpPr>
        <p:spPr>
          <a:xfrm>
            <a:off x="914400" y="5303520"/>
            <a:ext cx="7315200" cy="109728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88720" y="5486400"/>
            <a:ext cx="67665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C453D"/>
                </a:solidFill>
              </a:defRPr>
            </a:pPr>
            <a:r>
              <a:rPr dirty="0"/>
              <a:t>💡 </a:t>
            </a:r>
            <a:r>
              <a:rPr lang="ru-RU" dirty="0"/>
              <a:t>Кључни налаз: </a:t>
            </a:r>
            <a:r>
              <a:rPr lang="en-US" dirty="0" smtClean="0"/>
              <a:t>Twitter</a:t>
            </a:r>
            <a:r>
              <a:rPr lang="ru-RU" dirty="0" smtClean="0"/>
              <a:t> </a:t>
            </a:r>
            <a:r>
              <a:rPr lang="ru-RU" dirty="0"/>
              <a:t>сентимент НЕ предвиђа </a:t>
            </a:r>
            <a:r>
              <a:rPr lang="en-US" dirty="0" smtClean="0"/>
              <a:t>Bitcoin</a:t>
            </a:r>
            <a:r>
              <a:rPr lang="ru-RU" dirty="0" smtClean="0"/>
              <a:t> </a:t>
            </a:r>
            <a:r>
              <a:rPr lang="ru-RU" dirty="0"/>
              <a:t>цену, већ реагује на њу са кашњењем од ~6 дана. Корисници коментаришу постојеће кретање цене уместо да антиципирају будуће промене.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4576509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Евалуација и метрике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64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Classification Metrics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Accuracy: </a:t>
            </a:r>
            <a:r>
              <a:rPr lang="sr-Cyrl-RS" dirty="0" smtClean="0"/>
              <a:t>Укупна тачност класификације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Precision: </a:t>
            </a:r>
            <a:r>
              <a:rPr lang="sr-Cyrl-RS" dirty="0" smtClean="0"/>
              <a:t>Тачност позитивних предикција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Recall: </a:t>
            </a:r>
            <a:r>
              <a:rPr lang="sr-Cyrl-RS" dirty="0"/>
              <a:t>Покривеност стварних позитивних </a:t>
            </a:r>
            <a:r>
              <a:rPr lang="sr-Cyrl-RS" dirty="0" smtClean="0"/>
              <a:t>случајева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 smtClean="0"/>
              <a:t>F1-Score: </a:t>
            </a:r>
            <a:r>
              <a:rPr lang="sr-Cyrl-RS" dirty="0" smtClean="0"/>
              <a:t>Хармонијска средина </a:t>
            </a:r>
            <a:r>
              <a:rPr dirty="0" smtClean="0"/>
              <a:t>precision </a:t>
            </a:r>
            <a:r>
              <a:rPr lang="sr-Cyrl-RS" dirty="0" err="1"/>
              <a:t>и</a:t>
            </a:r>
            <a:r>
              <a:rPr dirty="0" smtClean="0"/>
              <a:t> recall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 smtClean="0"/>
              <a:t>Cross-Validation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5-Fold stratified cross-validation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Омогућава робусну процену генерализације модела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Смањује утицај случајне поделе података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 smtClean="0"/>
              <a:t>Confusion </a:t>
            </a:r>
            <a:r>
              <a:rPr dirty="0"/>
              <a:t>Matrix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Детаљни увид у грешке класификације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Идентификација проблематичних класа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 smtClean="0"/>
              <a:t>BERT</a:t>
            </a:r>
            <a:r>
              <a:rPr dirty="0"/>
              <a:t>: </a:t>
            </a:r>
            <a:r>
              <a:rPr lang="sr-Cyrl-RS" dirty="0"/>
              <a:t>најбоље разликовање између класа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5875968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Технички изазови и решења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35343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 smtClean="0"/>
              <a:t>Изазови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Небалансиран</a:t>
            </a:r>
            <a:r>
              <a:rPr dirty="0" smtClean="0"/>
              <a:t> </a:t>
            </a:r>
            <a:r>
              <a:rPr dirty="0"/>
              <a:t>dataset → Data augmentation </a:t>
            </a:r>
            <a:r>
              <a:rPr lang="sr-Cyrl-RS" dirty="0" err="1" smtClean="0"/>
              <a:t>и</a:t>
            </a:r>
            <a:r>
              <a:rPr dirty="0" smtClean="0"/>
              <a:t> </a:t>
            </a:r>
            <a:r>
              <a:rPr dirty="0"/>
              <a:t>weighted loss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Сленг и нестандардан језик </a:t>
            </a:r>
            <a:r>
              <a:rPr dirty="0" smtClean="0"/>
              <a:t>→ </a:t>
            </a:r>
            <a:r>
              <a:rPr lang="sr-Cyrl-RS" dirty="0" smtClean="0"/>
              <a:t>Екстензивни</a:t>
            </a:r>
            <a:r>
              <a:rPr dirty="0" smtClean="0"/>
              <a:t> </a:t>
            </a:r>
            <a:r>
              <a:rPr dirty="0"/>
              <a:t>preprocessing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BERT GPU memory → Batch size </a:t>
            </a:r>
            <a:r>
              <a:rPr lang="sr-Cyrl-RS" dirty="0" smtClean="0"/>
              <a:t>оптимизација</a:t>
            </a:r>
            <a:r>
              <a:rPr dirty="0" smtClean="0"/>
              <a:t> </a:t>
            </a:r>
            <a:r>
              <a:rPr dirty="0"/>
              <a:t>(16)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Overfitting → Dropout (0.3) </a:t>
            </a:r>
            <a:r>
              <a:rPr lang="sr-Cyrl-RS" dirty="0" err="1" smtClean="0"/>
              <a:t>и</a:t>
            </a:r>
            <a:r>
              <a:rPr dirty="0" smtClean="0"/>
              <a:t> </a:t>
            </a:r>
            <a:r>
              <a:rPr dirty="0"/>
              <a:t>early stopping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 smtClean="0"/>
              <a:t>Оптимизације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GPU acceleration (RTX 4060) → 10x </a:t>
            </a:r>
            <a:r>
              <a:rPr lang="sr-Cyrl-RS" dirty="0" smtClean="0"/>
              <a:t>брже</a:t>
            </a:r>
            <a:r>
              <a:rPr dirty="0" smtClean="0"/>
              <a:t> </a:t>
            </a:r>
            <a:r>
              <a:rPr dirty="0"/>
              <a:t>BERT </a:t>
            </a:r>
            <a:r>
              <a:rPr lang="sr-Cyrl-RS" dirty="0" smtClean="0"/>
              <a:t>тренирање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 err="1"/>
              <a:t>Hyperparameter</a:t>
            </a:r>
            <a:r>
              <a:rPr dirty="0"/>
              <a:t> tuning → </a:t>
            </a:r>
            <a:r>
              <a:rPr dirty="0" err="1"/>
              <a:t>GridSearchCV</a:t>
            </a:r>
            <a:r>
              <a:rPr dirty="0"/>
              <a:t> </a:t>
            </a:r>
            <a:r>
              <a:rPr lang="sr-Cyrl-RS" dirty="0" smtClean="0"/>
              <a:t>за</a:t>
            </a:r>
            <a:r>
              <a:rPr dirty="0" smtClean="0"/>
              <a:t> </a:t>
            </a:r>
            <a:r>
              <a:rPr dirty="0"/>
              <a:t>SVM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Learning rate scheduling → </a:t>
            </a:r>
            <a:r>
              <a:rPr dirty="0" err="1"/>
              <a:t>StepLR</a:t>
            </a:r>
            <a:r>
              <a:rPr dirty="0"/>
              <a:t> </a:t>
            </a:r>
            <a:r>
              <a:rPr lang="sr-Cyrl-RS" dirty="0" smtClean="0"/>
              <a:t>за</a:t>
            </a:r>
            <a:r>
              <a:rPr dirty="0" smtClean="0"/>
              <a:t> </a:t>
            </a:r>
            <a:r>
              <a:rPr dirty="0"/>
              <a:t>BERT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Data caching → </a:t>
            </a:r>
            <a:r>
              <a:rPr lang="sr-Cyrl-RS" dirty="0" smtClean="0"/>
              <a:t>Убрзање</a:t>
            </a:r>
            <a:r>
              <a:rPr dirty="0" smtClean="0"/>
              <a:t> preprocessing-</a:t>
            </a:r>
            <a:r>
              <a:rPr lang="sr-Cyrl-RS" dirty="0" smtClean="0"/>
              <a:t>а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5577168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Закључак и будући правци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731520" y="1645919"/>
            <a:ext cx="7680960" cy="1780861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2576346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C453D"/>
                </a:solidFill>
              </a:defRPr>
            </a:pPr>
            <a:r>
              <a:rPr lang="sr-Cyrl-RS" dirty="0" smtClean="0"/>
              <a:t>Постигнути резултати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7315200" cy="1297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✅ </a:t>
            </a:r>
            <a:r>
              <a:rPr lang="sr-Cyrl-RS" dirty="0" smtClean="0"/>
              <a:t>Успешно имплементирана </a:t>
            </a:r>
            <a:r>
              <a:rPr dirty="0" smtClean="0"/>
              <a:t>3 </a:t>
            </a:r>
            <a:r>
              <a:rPr dirty="0"/>
              <a:t>ML </a:t>
            </a:r>
            <a:r>
              <a:rPr lang="sr-Cyrl-RS" dirty="0" smtClean="0"/>
              <a:t>модела</a:t>
            </a:r>
            <a:r>
              <a:rPr dirty="0" smtClean="0"/>
              <a:t> </a:t>
            </a:r>
            <a:r>
              <a:rPr dirty="0"/>
              <a:t>(Naive Bayes, SVM, BERT)</a:t>
            </a:r>
          </a:p>
          <a:p>
            <a:pPr>
              <a:spcAft>
                <a:spcPts val="4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✅ SVM </a:t>
            </a:r>
            <a:r>
              <a:rPr lang="sr-Cyrl-RS" dirty="0" smtClean="0"/>
              <a:t>постигао</a:t>
            </a:r>
            <a:r>
              <a:rPr dirty="0" smtClean="0"/>
              <a:t> </a:t>
            </a:r>
            <a:r>
              <a:rPr lang="sr-Cyrl-RS" dirty="0" smtClean="0"/>
              <a:t>изванредних</a:t>
            </a:r>
            <a:r>
              <a:rPr dirty="0" smtClean="0"/>
              <a:t> </a:t>
            </a:r>
            <a:r>
              <a:rPr dirty="0"/>
              <a:t>95.24% accuracy</a:t>
            </a:r>
          </a:p>
          <a:p>
            <a:pPr>
              <a:spcAft>
                <a:spcPts val="4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✅ BERT </a:t>
            </a:r>
            <a:r>
              <a:rPr lang="sr-Cyrl-RS" dirty="0" smtClean="0"/>
              <a:t>демонстрирао</a:t>
            </a:r>
            <a:r>
              <a:rPr dirty="0" smtClean="0"/>
              <a:t> </a:t>
            </a:r>
            <a:r>
              <a:rPr dirty="0"/>
              <a:t>state-of-the-art </a:t>
            </a:r>
            <a:r>
              <a:rPr lang="sr-Cyrl-RS" dirty="0" smtClean="0"/>
              <a:t>перформансе</a:t>
            </a:r>
            <a:r>
              <a:rPr dirty="0" smtClean="0"/>
              <a:t> </a:t>
            </a:r>
            <a:r>
              <a:rPr dirty="0"/>
              <a:t>(94.84%)</a:t>
            </a:r>
          </a:p>
          <a:p>
            <a:pPr>
              <a:spcAft>
                <a:spcPts val="4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✅ </a:t>
            </a:r>
            <a:r>
              <a:rPr lang="ru-RU" dirty="0"/>
              <a:t>Корелациона анализа открила статистички значајну везу </a:t>
            </a:r>
            <a:r>
              <a:rPr dirty="0" smtClean="0"/>
              <a:t>(</a:t>
            </a:r>
            <a:r>
              <a:rPr dirty="0"/>
              <a:t>lag 6 </a:t>
            </a:r>
            <a:r>
              <a:rPr lang="sr-Cyrl-RS" dirty="0" smtClean="0"/>
              <a:t>дана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4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✅ </a:t>
            </a:r>
            <a:r>
              <a:rPr lang="ru-RU" dirty="0"/>
              <a:t>Показано да сентимент реагује на цену, не предвиђа је</a:t>
            </a:r>
            <a:endParaRPr lang="ru-RU" dirty="0"/>
          </a:p>
        </p:txBody>
      </p:sp>
      <p:sp>
        <p:nvSpPr>
          <p:cNvPr id="7" name="Rectangle 6"/>
          <p:cNvSpPr/>
          <p:nvPr/>
        </p:nvSpPr>
        <p:spPr>
          <a:xfrm>
            <a:off x="731520" y="3657600"/>
            <a:ext cx="7680960" cy="2286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749039"/>
            <a:ext cx="274774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C453D"/>
                </a:solidFill>
              </a:defRPr>
            </a:pPr>
            <a:r>
              <a:rPr lang="sr-Cyrl-RS" dirty="0" smtClean="0"/>
              <a:t>Будући правци развоја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7315200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dirty="0"/>
              <a:t>🚀 Real-time sentiment tracking dashboard</a:t>
            </a:r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dirty="0"/>
              <a:t>🔍 </a:t>
            </a:r>
            <a:r>
              <a:rPr lang="ru-RU" dirty="0"/>
              <a:t>Проширење анализе на више криптовалута </a:t>
            </a:r>
            <a:r>
              <a:rPr dirty="0" smtClean="0"/>
              <a:t>(</a:t>
            </a:r>
            <a:r>
              <a:rPr dirty="0" err="1"/>
              <a:t>Ethereum</a:t>
            </a:r>
            <a:r>
              <a:rPr dirty="0"/>
              <a:t>, Solana, </a:t>
            </a:r>
            <a:r>
              <a:rPr lang="sr-Cyrl-RS" dirty="0" smtClean="0"/>
              <a:t>итд</a:t>
            </a:r>
            <a:r>
              <a:rPr dirty="0" smtClean="0"/>
              <a:t>.)</a:t>
            </a:r>
            <a:endParaRPr dirty="0"/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dirty="0"/>
              <a:t>🎯 Multimodal </a:t>
            </a:r>
            <a:r>
              <a:rPr lang="sr-Cyrl-RS" dirty="0" smtClean="0"/>
              <a:t>анализа</a:t>
            </a:r>
            <a:r>
              <a:rPr dirty="0" smtClean="0"/>
              <a:t> (</a:t>
            </a:r>
            <a:r>
              <a:rPr lang="sr-Cyrl-RS" dirty="0" smtClean="0"/>
              <a:t>текст</a:t>
            </a:r>
            <a:r>
              <a:rPr dirty="0" smtClean="0"/>
              <a:t> </a:t>
            </a:r>
            <a:r>
              <a:rPr dirty="0"/>
              <a:t>+ </a:t>
            </a:r>
            <a:r>
              <a:rPr lang="sr-Cyrl-RS" dirty="0" smtClean="0"/>
              <a:t>слике са </a:t>
            </a:r>
            <a:r>
              <a:rPr dirty="0" smtClean="0"/>
              <a:t>Twitter-</a:t>
            </a:r>
            <a:r>
              <a:rPr lang="sr-Cyrl-RS" dirty="0" smtClean="0"/>
              <a:t>а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dirty="0"/>
              <a:t>⚡ </a:t>
            </a:r>
            <a:r>
              <a:rPr lang="sr-Cyrl-RS" dirty="0" smtClean="0"/>
              <a:t>Оптимизација</a:t>
            </a:r>
            <a:r>
              <a:rPr dirty="0" smtClean="0"/>
              <a:t> </a:t>
            </a:r>
            <a:r>
              <a:rPr dirty="0"/>
              <a:t>BERT </a:t>
            </a:r>
            <a:r>
              <a:rPr lang="sr-Cyrl-RS" dirty="0" smtClean="0"/>
              <a:t>модела</a:t>
            </a:r>
            <a:r>
              <a:rPr dirty="0" smtClean="0"/>
              <a:t> </a:t>
            </a:r>
            <a:r>
              <a:rPr dirty="0"/>
              <a:t>(</a:t>
            </a:r>
            <a:r>
              <a:rPr dirty="0" err="1"/>
              <a:t>DistilBERT</a:t>
            </a:r>
            <a:r>
              <a:rPr dirty="0"/>
              <a:t>, lightweight </a:t>
            </a:r>
            <a:r>
              <a:rPr lang="sr-Cyrl-RS" dirty="0" smtClean="0"/>
              <a:t>верзије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dirty="0"/>
              <a:t>🌐 Deploy </a:t>
            </a:r>
            <a:r>
              <a:rPr lang="sr-Cyrl-RS" dirty="0" smtClean="0"/>
              <a:t>као</a:t>
            </a:r>
            <a:r>
              <a:rPr dirty="0" smtClean="0"/>
              <a:t> </a:t>
            </a:r>
            <a:r>
              <a:rPr dirty="0"/>
              <a:t>REST API </a:t>
            </a:r>
            <a:r>
              <a:rPr lang="sr-Cyrl-RS" dirty="0" smtClean="0"/>
              <a:t>за екстерни приступ</a:t>
            </a:r>
            <a:endParaRPr dirty="0"/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dirty="0"/>
              <a:t>📊 </a:t>
            </a:r>
            <a:r>
              <a:rPr lang="sr-Cyrl-RS" dirty="0" smtClean="0"/>
              <a:t>Интеграција са </a:t>
            </a:r>
            <a:r>
              <a:rPr dirty="0" smtClean="0"/>
              <a:t>trading </a:t>
            </a:r>
            <a:r>
              <a:rPr lang="sr-Cyrl-RS" dirty="0"/>
              <a:t>платформама за аутоматске </a:t>
            </a:r>
            <a:r>
              <a:rPr lang="sr-Cyrl-RS" dirty="0" smtClean="0"/>
              <a:t>сигнале</a:t>
            </a:r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dirty="0" smtClean="0"/>
              <a:t>🔬 </a:t>
            </a:r>
            <a:r>
              <a:rPr lang="ru-RU" dirty="0"/>
              <a:t>Експерименти са новим </a:t>
            </a:r>
            <a:r>
              <a:rPr lang="en-US" smtClean="0"/>
              <a:t>transformer</a:t>
            </a:r>
            <a:r>
              <a:rPr lang="ru-RU" smtClean="0"/>
              <a:t> </a:t>
            </a:r>
            <a:r>
              <a:rPr lang="ru-RU" dirty="0"/>
              <a:t>архитектурама </a:t>
            </a:r>
            <a:r>
              <a:rPr dirty="0" smtClean="0"/>
              <a:t>(</a:t>
            </a:r>
            <a:r>
              <a:rPr dirty="0"/>
              <a:t>GPT-4, </a:t>
            </a:r>
            <a:r>
              <a:rPr dirty="0" err="1"/>
              <a:t>LLaMA</a:t>
            </a:r>
            <a:r>
              <a:rPr dirty="0"/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828800" y="2286000"/>
            <a:ext cx="54864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rPr lang="sr-Cyrl-RS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Хвала на пажњи!</a:t>
            </a:r>
            <a:endParaRPr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447158" y="5029200"/>
            <a:ext cx="4249690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DD5C8"/>
                </a:solidFill>
              </a:defRPr>
            </a:pPr>
            <a:r>
              <a:rPr lang="sr-Cyrl-RS" sz="2000" b="1" dirty="0" smtClean="0"/>
              <a:t>Борис Летић</a:t>
            </a:r>
            <a:r>
              <a:rPr sz="2000" b="1" dirty="0" smtClean="0"/>
              <a:t> </a:t>
            </a:r>
            <a:r>
              <a:rPr sz="2000" b="1" dirty="0"/>
              <a:t>| RA 207/2021</a:t>
            </a:r>
            <a:br>
              <a:rPr sz="2000" b="1" dirty="0"/>
            </a:br>
            <a:r>
              <a:rPr lang="sr-Cyrl-RS" sz="2000" b="1" dirty="0" smtClean="0"/>
              <a:t>Факултет техничких наука, Нови Сад</a:t>
            </a:r>
            <a:endParaRPr sz="2000" b="1" dirty="0"/>
          </a:p>
        </p:txBody>
      </p:sp>
      <p:sp>
        <p:nvSpPr>
          <p:cNvPr id="5" name="TextBox 4"/>
          <p:cNvSpPr txBox="1"/>
          <p:nvPr/>
        </p:nvSpPr>
        <p:spPr>
          <a:xfrm>
            <a:off x="3484485" y="3719155"/>
            <a:ext cx="21750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Cyrl-RS" sz="4000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Питања?</a:t>
            </a:r>
            <a:endParaRPr lang="en-US" sz="4000" b="1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994</Words>
  <Application>Microsoft Office PowerPoint</Application>
  <PresentationFormat>On-screen Show (4:3)</PresentationFormat>
  <Paragraphs>188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Win 11</cp:lastModifiedBy>
  <cp:revision>36</cp:revision>
  <dcterms:created xsi:type="dcterms:W3CDTF">2013-01-27T09:14:16Z</dcterms:created>
  <dcterms:modified xsi:type="dcterms:W3CDTF">2025-11-14T17:51:19Z</dcterms:modified>
  <cp:category/>
</cp:coreProperties>
</file>