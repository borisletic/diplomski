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C453D"/>
    <a:srgbClr val="9DD5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906175" y="1734295"/>
            <a:ext cx="4833598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C453D"/>
                </a:solidFill>
              </a:defRPr>
            </a:pPr>
            <a:r>
              <a:rPr lang="sr-Cyrl-RS" sz="3200" b="1" dirty="0"/>
              <a:t>Анализа сентимента крипто заједнице на друштвеним мрежама помоћу машинског учења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93215" y="6158884"/>
            <a:ext cx="290816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4495E"/>
                </a:solidFill>
              </a:defRPr>
            </a:pPr>
            <a:r>
              <a:rPr lang="sr-Cyrl-RS" sz="3200" dirty="0">
                <a:solidFill>
                  <a:srgbClr val="9DD5C8"/>
                </a:solidFill>
              </a:rPr>
              <a:t>Дипломски рад</a:t>
            </a:r>
            <a:endParaRPr sz="3200" dirty="0">
              <a:solidFill>
                <a:srgbClr val="9DD5C8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906175" y="6112717"/>
            <a:ext cx="2994794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sr-Cyrl-RS" sz="1900" b="1" dirty="0">
                <a:solidFill>
                  <a:srgbClr val="1C453D"/>
                </a:solidFill>
              </a:rPr>
              <a:t>Универзитет у Новом Саду</a:t>
            </a:r>
            <a:endParaRPr lang="en-US" sz="1900" b="1" dirty="0">
              <a:solidFill>
                <a:srgbClr val="1C453D"/>
              </a:solidFill>
            </a:endParaRPr>
          </a:p>
          <a:p>
            <a:r>
              <a:rPr lang="sr-Cyrl-RS" sz="1900" b="1" dirty="0">
                <a:solidFill>
                  <a:srgbClr val="1C453D"/>
                </a:solidFill>
              </a:rPr>
              <a:t>Факултет техничких наука</a:t>
            </a:r>
            <a:endParaRPr sz="1900" b="1" dirty="0">
              <a:solidFill>
                <a:srgbClr val="1C453D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 flipH="1">
            <a:off x="3892858" y="4655058"/>
            <a:ext cx="501588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lang="sr-Cyrl-RS" sz="1900" b="1" dirty="0">
                <a:solidFill>
                  <a:srgbClr val="1C453D"/>
                </a:solidFill>
              </a:rPr>
              <a:t>Ментор: др Душан Гајић, ванредни професор</a:t>
            </a:r>
            <a:endParaRPr lang="en-US" sz="1900" b="1" dirty="0">
              <a:solidFill>
                <a:srgbClr val="1C453D"/>
              </a:solidFill>
            </a:endParaRPr>
          </a:p>
          <a:p>
            <a:pPr>
              <a:defRPr sz="1400">
                <a:solidFill>
                  <a:srgbClr val="34495E"/>
                </a:solidFill>
              </a:defRPr>
            </a:pPr>
            <a:r>
              <a:rPr lang="sr-Cyrl-RS" sz="1900" b="1" dirty="0">
                <a:solidFill>
                  <a:srgbClr val="1C453D"/>
                </a:solidFill>
              </a:rPr>
              <a:t>Кандидат</a:t>
            </a:r>
            <a:r>
              <a:rPr lang="en-US" sz="1900" b="1" dirty="0">
                <a:solidFill>
                  <a:srgbClr val="1C453D"/>
                </a:solidFill>
              </a:rPr>
              <a:t>: </a:t>
            </a:r>
            <a:r>
              <a:rPr lang="sr-Cyrl-RS" sz="1900" b="1" dirty="0">
                <a:solidFill>
                  <a:srgbClr val="1C453D"/>
                </a:solidFill>
              </a:rPr>
              <a:t>Борис Летић </a:t>
            </a:r>
            <a:r>
              <a:rPr lang="en-US" sz="1900" b="1" dirty="0">
                <a:solidFill>
                  <a:srgbClr val="1C453D"/>
                </a:solidFill>
              </a:rPr>
              <a:t>RA 207/2021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FF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480240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/>
              <a:t>Проблем и мотивација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2887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/>
              <a:t>Традиционални приступ анализи јавног мишљења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Ручна анализа хиљада твитова </a:t>
            </a:r>
            <a:r>
              <a:rPr lang="en-US" dirty="0"/>
              <a:t>–</a:t>
            </a:r>
            <a:r>
              <a:rPr dirty="0"/>
              <a:t> </a:t>
            </a:r>
            <a:r>
              <a:rPr lang="sr-Cyrl-RS" dirty="0"/>
              <a:t>немогућа у реалном времену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Субјективност људске интерпретације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Високи трошкови и време потребно за анализу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Недостатак скалабилности</a:t>
            </a:r>
            <a:endParaRPr dirty="0"/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/>
              <a:t>Последице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Инвеститори и аналитичари не могу ефикасно пратити сентимент крипто заједнице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Пропуштене инвестиционе прилике због недостатка брзих увида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218040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/>
              <a:t>Циљ рада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2560320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9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4084" y="1917115"/>
            <a:ext cx="28248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C453D"/>
                </a:solidFill>
              </a:defRPr>
            </a:pPr>
            <a:r>
              <a:rPr lang="sr-Cyrl-RS" dirty="0"/>
              <a:t>Аутоматска класификација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2194560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rPr lang="ru-RU" dirty="0"/>
              <a:t>Развој система за аутоматску класификацију </a:t>
            </a:r>
            <a:r>
              <a:rPr lang="en-US" dirty="0"/>
              <a:t>Twitter</a:t>
            </a:r>
            <a:r>
              <a:rPr lang="ru-RU" dirty="0"/>
              <a:t> сентимента у три категорије: позитиван, негативан и неутралан.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3383280" y="1828800"/>
            <a:ext cx="2560320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9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61925" y="2103120"/>
            <a:ext cx="240303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C453D"/>
                </a:solidFill>
              </a:defRPr>
            </a:pPr>
            <a:r>
              <a:rPr lang="sr-Cyrl-RS" dirty="0"/>
              <a:t>Поређење </a:t>
            </a:r>
            <a:r>
              <a:rPr lang="en-US" dirty="0"/>
              <a:t>ML</a:t>
            </a:r>
            <a:r>
              <a:rPr lang="sr-Cyrl-RS" dirty="0"/>
              <a:t> модела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651760"/>
            <a:ext cx="219456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rPr lang="ru-RU" dirty="0"/>
              <a:t>Имплементација и евалуација три различита приступа: </a:t>
            </a:r>
            <a:r>
              <a:rPr lang="en-US" dirty="0"/>
              <a:t>Naive Bayes</a:t>
            </a:r>
            <a:r>
              <a:rPr lang="ru-RU" dirty="0"/>
              <a:t>, </a:t>
            </a:r>
            <a:r>
              <a:rPr lang="en-US" dirty="0"/>
              <a:t>SVM</a:t>
            </a:r>
            <a:r>
              <a:rPr lang="ru-RU" dirty="0"/>
              <a:t> и </a:t>
            </a:r>
            <a:r>
              <a:rPr lang="en-US" dirty="0"/>
              <a:t>BERT</a:t>
            </a:r>
            <a:r>
              <a:rPr lang="ru-RU" dirty="0"/>
              <a:t> трансформер модел.</a:t>
            </a:r>
            <a:endParaRPr dirty="0"/>
          </a:p>
        </p:txBody>
      </p:sp>
      <p:sp>
        <p:nvSpPr>
          <p:cNvPr id="10" name="Rectangle 9"/>
          <p:cNvSpPr/>
          <p:nvPr/>
        </p:nvSpPr>
        <p:spPr>
          <a:xfrm>
            <a:off x="6309360" y="1828800"/>
            <a:ext cx="2560320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9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91404" y="2103120"/>
            <a:ext cx="239623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C453D"/>
                </a:solidFill>
              </a:defRPr>
            </a:pPr>
            <a:r>
              <a:rPr lang="sr-Cyrl-RS" dirty="0"/>
              <a:t>Корелациона анализа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6492240" y="2651760"/>
            <a:ext cx="219456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rPr lang="ru-RU" dirty="0"/>
              <a:t>Анализа статистичке повезаности између </a:t>
            </a:r>
            <a:r>
              <a:rPr lang="en-US" dirty="0"/>
              <a:t>Twitter</a:t>
            </a:r>
            <a:r>
              <a:rPr lang="ru-RU" dirty="0"/>
              <a:t> сентимента и цене </a:t>
            </a:r>
            <a:r>
              <a:rPr lang="en-US" dirty="0"/>
              <a:t>Bitcoin</a:t>
            </a:r>
            <a:r>
              <a:rPr lang="ru-RU" dirty="0"/>
              <a:t>-а.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6058069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/>
              <a:t>Анализа сентимента - основе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2887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/>
              <a:t>Дефиниција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Аутоматска детекција субјективности и емоција у текстуалним подацима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Грана обраде природног језика (енгл. </a:t>
            </a:r>
            <a:r>
              <a:rPr lang="en-US" dirty="0"/>
              <a:t>natural language processing</a:t>
            </a:r>
            <a:r>
              <a:rPr lang="sr-Cyrl-RS" dirty="0"/>
              <a:t>)</a:t>
            </a:r>
            <a:endParaRPr lang="ru-RU"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Класификација текста у сентимент категорије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/>
              <a:t>Примена у финансијама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Предвиђање тржишних трендова на основу јавног мишљења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Анализа сентимента инвеститора пре доношења одлука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П</a:t>
            </a:r>
            <a:r>
              <a:rPr lang="ru-RU" dirty="0"/>
              <a:t>раћење перцепције бренда и производа у реалном времену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5536900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/>
              <a:t>Модели машинског учења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256032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C453D"/>
                </a:solidFill>
              </a:defRPr>
            </a:pPr>
            <a:r>
              <a:t>Naive Bayes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219456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</a:t>
            </a:r>
            <a:r>
              <a:rPr lang="sr-Cyrl-RS" dirty="0"/>
              <a:t>Пробабилистички приступ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TF-IDF </a:t>
            </a:r>
            <a:r>
              <a:rPr lang="sr-Cyrl-RS" dirty="0"/>
              <a:t>векторизација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</a:t>
            </a:r>
            <a:r>
              <a:rPr lang="sr-Cyrl-RS" dirty="0"/>
              <a:t>Брзо тренирање </a:t>
            </a:r>
            <a:r>
              <a:rPr dirty="0"/>
              <a:t>(~10</a:t>
            </a:r>
            <a:r>
              <a:rPr lang="sr-Cyrl-RS" dirty="0"/>
              <a:t>с</a:t>
            </a:r>
            <a:r>
              <a:rPr dirty="0"/>
              <a:t>)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</a:t>
            </a:r>
            <a:r>
              <a:rPr lang="sr-Cyrl-RS" dirty="0"/>
              <a:t>Добро за </a:t>
            </a:r>
            <a:r>
              <a:rPr dirty="0"/>
              <a:t>baseline</a:t>
            </a:r>
            <a:r>
              <a:rPr lang="sr-Cyrl-RS" dirty="0"/>
              <a:t> перформансе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3383280" y="2011680"/>
            <a:ext cx="256032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66160" y="21945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C453D"/>
                </a:solidFill>
              </a:defRPr>
            </a:pPr>
            <a:r>
              <a:t>SVM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743200"/>
            <a:ext cx="219456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</a:t>
            </a:r>
            <a:r>
              <a:rPr lang="sr-Cyrl-RS" dirty="0"/>
              <a:t>Метод потпорних вектора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RBF </a:t>
            </a:r>
            <a:r>
              <a:rPr lang="sr-Cyrl-RS" dirty="0"/>
              <a:t>кернел</a:t>
            </a:r>
            <a:r>
              <a:rPr dirty="0"/>
              <a:t> </a:t>
            </a:r>
            <a:r>
              <a:rPr lang="sr-Cyrl-RS" dirty="0"/>
              <a:t>функција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</a:t>
            </a:r>
            <a:r>
              <a:rPr lang="sr-Cyrl-RS" dirty="0"/>
              <a:t>Подешавање хиперпараметара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</a:t>
            </a:r>
            <a:r>
              <a:rPr lang="sr-Cyrl-RS" dirty="0"/>
              <a:t>Висока прецизност</a:t>
            </a:r>
            <a:endParaRPr dirty="0"/>
          </a:p>
        </p:txBody>
      </p:sp>
      <p:sp>
        <p:nvSpPr>
          <p:cNvPr id="10" name="Rectangle 9"/>
          <p:cNvSpPr/>
          <p:nvPr/>
        </p:nvSpPr>
        <p:spPr>
          <a:xfrm>
            <a:off x="6309360" y="2011680"/>
            <a:ext cx="2560320" cy="3474720"/>
          </a:xfrm>
          <a:prstGeom prst="rect">
            <a:avLst/>
          </a:prstGeom>
          <a:solidFill>
            <a:srgbClr val="1C453D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BERT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743200"/>
            <a:ext cx="2194560" cy="1123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rPr dirty="0"/>
              <a:t>• </a:t>
            </a:r>
            <a:r>
              <a:rPr lang="sr-Cyrl-RS" dirty="0"/>
              <a:t>Трансформер</a:t>
            </a:r>
            <a:r>
              <a:rPr dirty="0"/>
              <a:t> </a:t>
            </a:r>
            <a:r>
              <a:rPr lang="sr-Cyrl-RS" dirty="0"/>
              <a:t>архитектура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rPr dirty="0"/>
              <a:t>• </a:t>
            </a:r>
            <a:r>
              <a:rPr lang="sr-Cyrl-RS" dirty="0"/>
              <a:t>Предобучен</a:t>
            </a:r>
            <a:r>
              <a:rPr dirty="0"/>
              <a:t> </a:t>
            </a:r>
            <a:r>
              <a:rPr lang="sr-Cyrl-RS" dirty="0"/>
              <a:t>модел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rPr dirty="0"/>
              <a:t>• </a:t>
            </a:r>
            <a:r>
              <a:rPr lang="sr-Cyrl-RS" dirty="0"/>
              <a:t>Фино подешен</a:t>
            </a:r>
            <a:r>
              <a:rPr dirty="0"/>
              <a:t> </a:t>
            </a:r>
            <a:r>
              <a:rPr lang="sr-Cyrl-RS" dirty="0"/>
              <a:t>приступ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rPr dirty="0"/>
              <a:t>• </a:t>
            </a:r>
            <a:r>
              <a:rPr lang="sr-Cyrl-RS" dirty="0"/>
              <a:t>Изванредни</a:t>
            </a:r>
            <a:r>
              <a:rPr dirty="0"/>
              <a:t> </a:t>
            </a:r>
            <a:r>
              <a:rPr lang="sr-Cyrl-RS" dirty="0"/>
              <a:t>резултати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7189917" cy="646331"/>
          </a:xfrm>
          <a:prstGeom prst="rect">
            <a:avLst/>
          </a:prstGeom>
          <a:solidFill>
            <a:srgbClr val="9DD5C8"/>
          </a:solidFill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/>
              <a:t>Скуп података</a:t>
            </a:r>
            <a:r>
              <a:rPr dirty="0"/>
              <a:t> </a:t>
            </a:r>
            <a:r>
              <a:rPr lang="sr-Cyrl-RS" dirty="0"/>
              <a:t>и</a:t>
            </a:r>
            <a:r>
              <a:rPr dirty="0"/>
              <a:t> </a:t>
            </a:r>
            <a:r>
              <a:rPr lang="sr-Cyrl-RS" dirty="0"/>
              <a:t>претпроцесирање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3857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Bitcoin Twitter </a:t>
            </a:r>
            <a:r>
              <a:rPr lang="sr-Cyrl-RS" dirty="0"/>
              <a:t>скуп података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5,000 </a:t>
            </a:r>
            <a:r>
              <a:rPr lang="sr-Cyrl-RS" dirty="0"/>
              <a:t>твитова о </a:t>
            </a:r>
            <a:r>
              <a:rPr dirty="0"/>
              <a:t>Bitcoin-</a:t>
            </a:r>
            <a:r>
              <a:rPr lang="sr-Cyrl-RS" dirty="0"/>
              <a:t>у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Ручно анотиран скуп података</a:t>
            </a:r>
            <a:r>
              <a:rPr dirty="0"/>
              <a:t> (</a:t>
            </a:r>
            <a:r>
              <a:rPr lang="sr-Cyrl-RS" dirty="0"/>
              <a:t>позитиван/негативан/неутралан</a:t>
            </a:r>
            <a:r>
              <a:rPr dirty="0"/>
              <a:t>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Временски период</a:t>
            </a:r>
            <a:r>
              <a:rPr dirty="0"/>
              <a:t>: </a:t>
            </a:r>
            <a:r>
              <a:rPr lang="sr-Cyrl-RS" dirty="0"/>
              <a:t>Јануар</a:t>
            </a:r>
            <a:r>
              <a:rPr dirty="0"/>
              <a:t> - </a:t>
            </a:r>
            <a:r>
              <a:rPr lang="sr-Cyrl-RS" dirty="0"/>
              <a:t>Мај</a:t>
            </a:r>
            <a:r>
              <a:rPr dirty="0"/>
              <a:t> 2024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Балансиран</a:t>
            </a:r>
            <a:r>
              <a:rPr dirty="0"/>
              <a:t> </a:t>
            </a:r>
            <a:r>
              <a:rPr lang="sr-Cyrl-RS" dirty="0"/>
              <a:t>скуп података</a:t>
            </a:r>
            <a:r>
              <a:rPr dirty="0"/>
              <a:t> </a:t>
            </a:r>
            <a:r>
              <a:rPr lang="sr-Cyrl-RS" dirty="0"/>
              <a:t>по класама</a:t>
            </a:r>
            <a:endParaRPr dirty="0"/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/>
              <a:t>Проточни систем (енгл. </a:t>
            </a:r>
            <a:r>
              <a:rPr lang="en-US" dirty="0"/>
              <a:t>pipeline) </a:t>
            </a:r>
            <a:r>
              <a:rPr lang="sr-Cyrl-RS" dirty="0"/>
              <a:t>претпроцесирања текста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Уклањање</a:t>
            </a:r>
            <a:r>
              <a:rPr dirty="0"/>
              <a:t> URL-</a:t>
            </a:r>
            <a:r>
              <a:rPr lang="sr-Cyrl-RS" dirty="0"/>
              <a:t>ова</a:t>
            </a:r>
            <a:r>
              <a:rPr dirty="0"/>
              <a:t>, mentions (@user) </a:t>
            </a:r>
            <a:r>
              <a:rPr lang="sr-Cyrl-RS" dirty="0"/>
              <a:t>и</a:t>
            </a:r>
            <a:r>
              <a:rPr dirty="0"/>
              <a:t> hashtag-</a:t>
            </a:r>
            <a:r>
              <a:rPr lang="sr-Cyrl-RS" dirty="0"/>
              <a:t>ова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Lowercase </a:t>
            </a:r>
            <a:r>
              <a:rPr lang="sr-Cyrl-RS" dirty="0"/>
              <a:t>трансформација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Токенизација</a:t>
            </a:r>
            <a:r>
              <a:rPr dirty="0"/>
              <a:t> (NLTK)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Уклањање </a:t>
            </a:r>
            <a:r>
              <a:rPr lang="en-US" dirty="0" err="1"/>
              <a:t>stop_w</a:t>
            </a:r>
            <a:r>
              <a:rPr dirty="0" err="1"/>
              <a:t>ords</a:t>
            </a:r>
            <a:r>
              <a:rPr dirty="0"/>
              <a:t> </a:t>
            </a:r>
            <a:endParaRPr lang="en-US"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Lemmatization (</a:t>
            </a:r>
            <a:r>
              <a:rPr dirty="0" err="1"/>
              <a:t>WordNetLemmatizer</a:t>
            </a:r>
            <a:r>
              <a:rPr dirty="0"/>
              <a:t>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4988738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/>
              <a:t>Коришћене технологије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rPr dirty="0"/>
              <a:t>Python 3.11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537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lang="sr-Cyrl-RS" dirty="0"/>
              <a:t>Програмски језик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PyTorch 2.0+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26079"/>
            <a:ext cx="3227422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lang="sr-Cyrl-RS" dirty="0"/>
              <a:t>Оквир </a:t>
            </a:r>
            <a:r>
              <a:rPr lang="de-DE" dirty="0"/>
              <a:t>(</a:t>
            </a:r>
            <a:r>
              <a:rPr lang="sr-Cyrl-RS" dirty="0"/>
              <a:t>енгл. </a:t>
            </a:r>
            <a:r>
              <a:rPr lang="en-US" dirty="0"/>
              <a:t>framework) </a:t>
            </a:r>
            <a:r>
              <a:rPr lang="sr-Cyrl-RS" dirty="0"/>
              <a:t>дубоког учења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914400" y="347472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Transformers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49039"/>
            <a:ext cx="2189958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dirty="0"/>
              <a:t>Hugging Face BERT </a:t>
            </a:r>
            <a:r>
              <a:rPr lang="sr-Cyrl-RS" dirty="0"/>
              <a:t>модели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914400" y="429768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scikit-learn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1693092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dirty="0"/>
              <a:t>Baseline ML </a:t>
            </a:r>
            <a:r>
              <a:rPr lang="sr-Cyrl-RS" dirty="0"/>
              <a:t>модели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5029200" y="182880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NLTK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103120"/>
            <a:ext cx="214552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lang="sr-Cyrl-RS" dirty="0"/>
              <a:t>Обрада природног језика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5029200" y="265176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pandas &amp; numpy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926079"/>
            <a:ext cx="210551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lang="sr-Cyrl-RS" dirty="0"/>
              <a:t>Манипулација подацима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5029200" y="347472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matplotlib &amp; seaborn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49039"/>
            <a:ext cx="130266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lang="sr-Cyrl-RS" dirty="0"/>
              <a:t>Визуализације</a:t>
            </a: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5029200" y="429768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yfinance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4572000"/>
            <a:ext cx="2008178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lang="sr-Cyrl-RS" dirty="0"/>
              <a:t>Подаци о цени </a:t>
            </a:r>
            <a:r>
              <a:rPr lang="en-US" dirty="0"/>
              <a:t>Bitcoin</a:t>
            </a:r>
            <a:r>
              <a:rPr lang="sr-Cyrl-RS" dirty="0"/>
              <a:t>-а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4397101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/>
              <a:t>Архитектура система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647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/>
              <a:t>Проточни систем података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Прикупљање података </a:t>
            </a:r>
            <a:r>
              <a:rPr dirty="0"/>
              <a:t>→ Twitter </a:t>
            </a:r>
            <a:r>
              <a:rPr lang="sr-Cyrl-RS" dirty="0"/>
              <a:t>скуп података</a:t>
            </a:r>
            <a:r>
              <a:rPr dirty="0"/>
              <a:t> (5,000 </a:t>
            </a:r>
            <a:r>
              <a:rPr lang="sr-Cyrl-RS" dirty="0"/>
              <a:t>твитова</a:t>
            </a:r>
            <a:r>
              <a:rPr dirty="0"/>
              <a:t>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Претпроцесирање</a:t>
            </a:r>
            <a:r>
              <a:rPr dirty="0"/>
              <a:t> → </a:t>
            </a:r>
            <a:r>
              <a:rPr lang="sr-Cyrl-RS" dirty="0"/>
              <a:t>Чишћење текста и токенизација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Издвајање карактеристика </a:t>
            </a:r>
            <a:r>
              <a:rPr dirty="0"/>
              <a:t>→ TF-IDF / BERT </a:t>
            </a:r>
            <a:r>
              <a:rPr lang="sr-Cyrl-RS" dirty="0"/>
              <a:t>уграђивања (енгл. </a:t>
            </a:r>
            <a:r>
              <a:rPr lang="en-US" dirty="0"/>
              <a:t>embeddings</a:t>
            </a:r>
            <a:r>
              <a:rPr lang="sr-Cyrl-RS" dirty="0"/>
              <a:t>)</a:t>
            </a:r>
            <a:endParaRPr dirty="0"/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/>
              <a:t>Проточни систем модела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Train/Test </a:t>
            </a:r>
            <a:r>
              <a:rPr lang="sr-Cyrl-RS" dirty="0"/>
              <a:t>подела</a:t>
            </a:r>
            <a:r>
              <a:rPr dirty="0"/>
              <a:t> → 80% / 20%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Обучавање модела</a:t>
            </a:r>
            <a:r>
              <a:rPr dirty="0"/>
              <a:t> → Naive Bayes, SVM, BERT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Штеловање хиперпараметара </a:t>
            </a:r>
            <a:r>
              <a:rPr dirty="0"/>
              <a:t>→ </a:t>
            </a:r>
            <a:r>
              <a:rPr dirty="0" err="1"/>
              <a:t>GridSearchCV</a:t>
            </a:r>
            <a:r>
              <a:rPr dirty="0"/>
              <a:t> / </a:t>
            </a:r>
            <a:r>
              <a:rPr lang="sr-Cyrl-RS" dirty="0"/>
              <a:t>Ручно штеловање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Евалуација</a:t>
            </a:r>
            <a:r>
              <a:rPr dirty="0"/>
              <a:t> → Accuracy, Precision, Recall, F1-Score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/>
              <a:t>Проточни систем анализе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Подаци о цени </a:t>
            </a:r>
            <a:r>
              <a:rPr lang="en-US" dirty="0"/>
              <a:t>Bitcoin</a:t>
            </a:r>
            <a:r>
              <a:rPr lang="sr-Cyrl-RS" dirty="0"/>
              <a:t>-а</a:t>
            </a:r>
            <a:r>
              <a:rPr dirty="0"/>
              <a:t>→ </a:t>
            </a:r>
            <a:r>
              <a:rPr dirty="0" err="1"/>
              <a:t>yfinance</a:t>
            </a:r>
            <a:r>
              <a:rPr dirty="0"/>
              <a:t> API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Бодовање сентимента </a:t>
            </a:r>
            <a:r>
              <a:rPr dirty="0"/>
              <a:t>→ -1 (</a:t>
            </a:r>
            <a:r>
              <a:rPr lang="sr-Cyrl-RS" dirty="0"/>
              <a:t>негативан</a:t>
            </a:r>
            <a:r>
              <a:rPr dirty="0"/>
              <a:t>) </a:t>
            </a:r>
            <a:r>
              <a:rPr lang="sr-Cyrl-RS" dirty="0"/>
              <a:t>до</a:t>
            </a:r>
            <a:r>
              <a:rPr dirty="0"/>
              <a:t> +1 (</a:t>
            </a:r>
            <a:r>
              <a:rPr lang="sr-Cyrl-RS" dirty="0"/>
              <a:t>позитиван</a:t>
            </a:r>
            <a:r>
              <a:rPr dirty="0"/>
              <a:t>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Статистичка анализа </a:t>
            </a:r>
            <a:r>
              <a:rPr dirty="0"/>
              <a:t>→ Pearson &amp; Spearman </a:t>
            </a:r>
            <a:r>
              <a:rPr lang="sr-Cyrl-RS" dirty="0"/>
              <a:t>корелација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5627503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/>
              <a:t>Процес тренирања модела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3857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/>
              <a:t>Подешавање обуке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80/20 Train-Test </a:t>
            </a:r>
            <a:r>
              <a:rPr lang="sr-Cyrl-RS" dirty="0"/>
              <a:t>подела</a:t>
            </a:r>
            <a:r>
              <a:rPr dirty="0"/>
              <a:t> (4,000 / 1,000 </a:t>
            </a:r>
            <a:r>
              <a:rPr lang="sr-Cyrl-RS" dirty="0"/>
              <a:t>твитова</a:t>
            </a:r>
            <a:r>
              <a:rPr dirty="0"/>
              <a:t>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Петострука унакрсна валидација (енгл. </a:t>
            </a:r>
            <a:r>
              <a:rPr lang="en-US" dirty="0"/>
              <a:t>5-fold cross-validation</a:t>
            </a:r>
            <a:r>
              <a:rPr lang="sr-Cyrl-RS" dirty="0"/>
              <a:t>)</a:t>
            </a:r>
            <a:r>
              <a:rPr lang="en-US" dirty="0"/>
              <a:t> </a:t>
            </a:r>
            <a:r>
              <a:rPr lang="sr-Cyrl-RS" dirty="0"/>
              <a:t>за све моделе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Убрзање графичке картице</a:t>
            </a:r>
            <a:r>
              <a:rPr dirty="0"/>
              <a:t>: NVIDIA RTX 4060 (8GB VRAM)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Batch Size: 16 (BERT), Full dataset (NB, SVM)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/>
              <a:t>Специфичности финог подешавања </a:t>
            </a:r>
            <a:r>
              <a:rPr lang="en-US" dirty="0"/>
              <a:t>BERT</a:t>
            </a:r>
            <a:r>
              <a:rPr lang="sr-Cyrl-RS" dirty="0"/>
              <a:t> модела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Предобучен модел</a:t>
            </a:r>
            <a:r>
              <a:rPr dirty="0"/>
              <a:t>: </a:t>
            </a:r>
            <a:r>
              <a:rPr dirty="0" err="1"/>
              <a:t>bert</a:t>
            </a:r>
            <a:r>
              <a:rPr dirty="0"/>
              <a:t>-base-uncased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Learning rate: 2e-5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Epochs: 3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Max sequence length: 128 tokens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Optimizer: </a:t>
            </a:r>
            <a:r>
              <a:rPr dirty="0" err="1"/>
              <a:t>AdamW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766560" y="1783080"/>
            <a:ext cx="1828800" cy="54864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937760" y="1783080"/>
            <a:ext cx="1828800" cy="54864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108960" y="1783080"/>
            <a:ext cx="1828800" cy="54864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80160" y="1783080"/>
            <a:ext cx="1828800" cy="54864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697620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/>
              <a:t>Резултати – перформансе модела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1797144" y="1828800"/>
            <a:ext cx="79483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 lang="sr-Cyrl-RS" dirty="0">
                <a:solidFill>
                  <a:srgbClr val="1C453D"/>
                </a:solidFill>
              </a:rPr>
              <a:t>Модел</a:t>
            </a:r>
            <a:endParaRPr dirty="0">
              <a:solidFill>
                <a:srgbClr val="1C453D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591252" y="1828800"/>
            <a:ext cx="86421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 lang="sr-Cyrl-RS" dirty="0">
                <a:solidFill>
                  <a:srgbClr val="1C453D"/>
                </a:solidFill>
              </a:rPr>
              <a:t>Тачност</a:t>
            </a:r>
            <a:endParaRPr dirty="0">
              <a:solidFill>
                <a:srgbClr val="1C453D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95207" y="1828800"/>
            <a:ext cx="91390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 dirty="0">
                <a:solidFill>
                  <a:srgbClr val="1C453D"/>
                </a:solidFill>
              </a:rPr>
              <a:t>F1-Score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9852" y="1828800"/>
            <a:ext cx="180222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 lang="sr-Cyrl-RS" dirty="0">
                <a:solidFill>
                  <a:srgbClr val="1C453D"/>
                </a:solidFill>
              </a:rPr>
              <a:t>Време тренирања</a:t>
            </a:r>
            <a:endParaRPr dirty="0">
              <a:solidFill>
                <a:srgbClr val="1C453D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371600" y="24688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34495E"/>
                </a:solidFill>
              </a:defRPr>
            </a:pPr>
            <a:r>
              <a:t>Naive Bayes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4688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90.87%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4688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0.8814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887" y="2468880"/>
            <a:ext cx="1188147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rPr dirty="0"/>
              <a:t>~10 </a:t>
            </a:r>
            <a:r>
              <a:rPr lang="sr-Cyrl-RS" dirty="0"/>
              <a:t>секунди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1371600" y="31089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34495E"/>
                </a:solidFill>
              </a:defRPr>
            </a:pPr>
            <a:r>
              <a:t>SVM (RBF)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1089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95.24%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1089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0.9495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887" y="3108960"/>
            <a:ext cx="1188147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rPr dirty="0"/>
              <a:t>~45 </a:t>
            </a:r>
            <a:r>
              <a:rPr lang="sr-Cyrl-RS" dirty="0"/>
              <a:t>секунди</a:t>
            </a:r>
            <a:endParaRPr dirty="0"/>
          </a:p>
        </p:txBody>
      </p:sp>
      <p:sp>
        <p:nvSpPr>
          <p:cNvPr id="20" name="TextBox 19"/>
          <p:cNvSpPr txBox="1"/>
          <p:nvPr/>
        </p:nvSpPr>
        <p:spPr>
          <a:xfrm>
            <a:off x="1371600" y="374904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34495E"/>
                </a:solidFill>
              </a:defRPr>
            </a:pPr>
            <a:r>
              <a:t>BERT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74904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94.84%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74904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0.9466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5291" y="3749040"/>
            <a:ext cx="1611339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rPr dirty="0"/>
              <a:t>~15 </a:t>
            </a:r>
            <a:r>
              <a:rPr lang="sr-Cyrl-RS" dirty="0"/>
              <a:t>минута</a:t>
            </a:r>
            <a:r>
              <a:rPr dirty="0"/>
              <a:t> (GPU)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572000"/>
            <a:ext cx="6400800" cy="109728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463040" y="4859030"/>
            <a:ext cx="6217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1C453D"/>
                </a:solidFill>
              </a:defRPr>
            </a:pPr>
            <a:r>
              <a:rPr dirty="0"/>
              <a:t>SVM </a:t>
            </a:r>
            <a:r>
              <a:rPr lang="sr-Cyrl-RS" dirty="0"/>
              <a:t>постигао најбоље резултате </a:t>
            </a:r>
            <a:r>
              <a:rPr dirty="0"/>
              <a:t>(95.24%), </a:t>
            </a:r>
            <a:r>
              <a:rPr lang="sr-Cyrl-RS" dirty="0"/>
              <a:t>док је </a:t>
            </a:r>
            <a:r>
              <a:rPr dirty="0"/>
              <a:t>BERT </a:t>
            </a:r>
            <a:r>
              <a:rPr lang="sr-Cyrl-RS" dirty="0"/>
              <a:t>био други са </a:t>
            </a:r>
            <a:r>
              <a:rPr dirty="0"/>
              <a:t>94.84%.</a:t>
            </a:r>
            <a:br>
              <a:rPr dirty="0"/>
            </a:br>
            <a:r>
              <a:rPr dirty="0"/>
              <a:t>Naive Bayes </a:t>
            </a:r>
            <a:r>
              <a:rPr lang="sr-Cyrl-RS" dirty="0"/>
              <a:t>показао солидне </a:t>
            </a:r>
            <a:r>
              <a:rPr dirty="0"/>
              <a:t>baseline </a:t>
            </a:r>
            <a:r>
              <a:rPr lang="sr-Cyrl-RS" dirty="0"/>
              <a:t>перформансе</a:t>
            </a:r>
            <a:r>
              <a:rPr dirty="0"/>
              <a:t> (90.87%).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7691977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/>
              <a:t>Корелациона анализа </a:t>
            </a:r>
            <a:r>
              <a:rPr dirty="0"/>
              <a:t>- </a:t>
            </a:r>
            <a:r>
              <a:rPr lang="sr-Cyrl-RS" dirty="0"/>
              <a:t>методологија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647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/>
              <a:t>Бодовање сентимента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Сваки твит класификован у 3 класе</a:t>
            </a:r>
            <a:r>
              <a:rPr dirty="0"/>
              <a:t>: </a:t>
            </a:r>
            <a:r>
              <a:rPr lang="sr-Cyrl-RS" dirty="0"/>
              <a:t>позитиван</a:t>
            </a:r>
            <a:r>
              <a:rPr dirty="0"/>
              <a:t> (+1), </a:t>
            </a:r>
            <a:r>
              <a:rPr lang="sr-Cyrl-RS" dirty="0"/>
              <a:t>неутралан</a:t>
            </a:r>
            <a:r>
              <a:rPr dirty="0"/>
              <a:t> (0), </a:t>
            </a:r>
            <a:r>
              <a:rPr lang="sr-Cyrl-RS" dirty="0"/>
              <a:t>негативан</a:t>
            </a:r>
            <a:r>
              <a:rPr dirty="0"/>
              <a:t> (-1)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Дневно бодовање сентимента </a:t>
            </a:r>
            <a:r>
              <a:rPr dirty="0"/>
              <a:t>= </a:t>
            </a:r>
            <a:r>
              <a:rPr lang="sr-Cyrl-RS" dirty="0"/>
              <a:t>просек свих твитова тог дана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Опсег вредности</a:t>
            </a:r>
            <a:r>
              <a:rPr dirty="0"/>
              <a:t>: -1.0 (</a:t>
            </a:r>
            <a:r>
              <a:rPr lang="sr-Cyrl-RS" dirty="0"/>
              <a:t>врло негативан</a:t>
            </a:r>
            <a:r>
              <a:rPr dirty="0"/>
              <a:t>) </a:t>
            </a:r>
            <a:r>
              <a:rPr lang="sr-Cyrl-RS" dirty="0"/>
              <a:t>до</a:t>
            </a:r>
            <a:r>
              <a:rPr dirty="0"/>
              <a:t> +1.0 (</a:t>
            </a:r>
            <a:r>
              <a:rPr lang="sr-Cyrl-RS" dirty="0"/>
              <a:t>врло позитиван</a:t>
            </a:r>
            <a:r>
              <a:rPr dirty="0"/>
              <a:t>)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/>
              <a:t>Подаци о цени </a:t>
            </a:r>
            <a:r>
              <a:rPr lang="en-US" dirty="0"/>
              <a:t>Bitcoin-</a:t>
            </a:r>
            <a:r>
              <a:rPr lang="sr-Cyrl-RS" dirty="0"/>
              <a:t>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Преузето преко </a:t>
            </a:r>
            <a:r>
              <a:rPr dirty="0" err="1"/>
              <a:t>yfinance</a:t>
            </a:r>
            <a:r>
              <a:rPr dirty="0"/>
              <a:t> API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Временски период</a:t>
            </a:r>
            <a:r>
              <a:rPr dirty="0"/>
              <a:t>: </a:t>
            </a:r>
            <a:r>
              <a:rPr lang="sr-Cyrl-RS" dirty="0"/>
              <a:t>Јануар</a:t>
            </a:r>
            <a:r>
              <a:rPr dirty="0"/>
              <a:t> - </a:t>
            </a:r>
            <a:r>
              <a:rPr lang="sr-Cyrl-RS" dirty="0"/>
              <a:t>Мај</a:t>
            </a:r>
            <a:r>
              <a:rPr dirty="0"/>
              <a:t> 2024 (106 </a:t>
            </a:r>
            <a:r>
              <a:rPr lang="sr-Cyrl-RS" dirty="0"/>
              <a:t>дана</a:t>
            </a:r>
            <a:r>
              <a:rPr dirty="0"/>
              <a:t>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Метрике</a:t>
            </a:r>
            <a:r>
              <a:rPr dirty="0"/>
              <a:t>: closing price, volume, daily change (%)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/>
              <a:t>Статистичка анализа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Pearson </a:t>
            </a:r>
            <a:r>
              <a:rPr lang="sr-Cyrl-RS" dirty="0"/>
              <a:t>корелација</a:t>
            </a:r>
            <a:r>
              <a:rPr lang="en-US" dirty="0"/>
              <a:t>–</a:t>
            </a:r>
            <a:r>
              <a:rPr dirty="0"/>
              <a:t> </a:t>
            </a:r>
            <a:r>
              <a:rPr lang="sr-Cyrl-RS" dirty="0"/>
              <a:t>линеарна веза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Spearman </a:t>
            </a:r>
            <a:r>
              <a:rPr lang="sr-Cyrl-RS" dirty="0"/>
              <a:t>корелација</a:t>
            </a:r>
            <a:r>
              <a:rPr dirty="0"/>
              <a:t> </a:t>
            </a:r>
            <a:r>
              <a:rPr lang="en-US" dirty="0"/>
              <a:t>–</a:t>
            </a:r>
            <a:r>
              <a:rPr dirty="0"/>
              <a:t> </a:t>
            </a:r>
            <a:r>
              <a:rPr lang="sr-Cyrl-RS" dirty="0"/>
              <a:t>монотона веза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Анализа кашњења (енгл. </a:t>
            </a:r>
            <a:r>
              <a:rPr lang="en-US" dirty="0"/>
              <a:t>lag analysis</a:t>
            </a:r>
            <a:r>
              <a:rPr lang="sr-Cyrl-RS" dirty="0"/>
              <a:t>)</a:t>
            </a:r>
            <a:r>
              <a:rPr lang="en-US" dirty="0"/>
              <a:t>–</a:t>
            </a:r>
            <a:r>
              <a:rPr dirty="0"/>
              <a:t> </a:t>
            </a:r>
            <a:r>
              <a:rPr lang="sr-Cyrl-RS" dirty="0"/>
              <a:t>провера временског кашњења </a:t>
            </a:r>
            <a:r>
              <a:rPr dirty="0"/>
              <a:t>(-7 </a:t>
            </a:r>
            <a:r>
              <a:rPr lang="sr-Cyrl-RS" dirty="0"/>
              <a:t>до</a:t>
            </a:r>
            <a:r>
              <a:rPr dirty="0"/>
              <a:t> +7 </a:t>
            </a:r>
            <a:r>
              <a:rPr lang="sr-Cyrl-RS" dirty="0"/>
              <a:t>дана</a:t>
            </a:r>
            <a:r>
              <a:rPr dirty="0"/>
              <a:t>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P-value &lt; 0.05 </a:t>
            </a:r>
            <a:r>
              <a:rPr lang="sr-Cyrl-RS" dirty="0"/>
              <a:t>за статистичку значајност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6918497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/>
              <a:t>Корелациона анализа - резултати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1920240"/>
            <a:ext cx="341458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C453D"/>
                </a:solidFill>
              </a:defRPr>
            </a:pPr>
            <a:r>
              <a:rPr lang="sr-Cyrl-RS" dirty="0"/>
              <a:t>Сентимент наспрам цене </a:t>
            </a:r>
            <a:r>
              <a:rPr dirty="0"/>
              <a:t>(</a:t>
            </a:r>
            <a:r>
              <a:rPr lang="sr-Cyrl-RS" dirty="0"/>
              <a:t>тренутно</a:t>
            </a:r>
            <a:r>
              <a:rPr dirty="0"/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194560"/>
            <a:ext cx="6766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dirty="0"/>
              <a:t>Pearson: r = 0.094, p = 0.337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423160"/>
            <a:ext cx="2239203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34495E"/>
                </a:solidFill>
              </a:defRPr>
            </a:pPr>
            <a:r>
              <a:rPr dirty="0"/>
              <a:t>❌ </a:t>
            </a:r>
            <a:r>
              <a:rPr lang="sr-Cyrl-RS" dirty="0"/>
              <a:t>Није статистички значајно</a:t>
            </a:r>
            <a:endParaRPr dirty="0"/>
          </a:p>
        </p:txBody>
      </p:sp>
      <p:sp>
        <p:nvSpPr>
          <p:cNvPr id="8" name="Rectangle 7"/>
          <p:cNvSpPr/>
          <p:nvPr/>
        </p:nvSpPr>
        <p:spPr>
          <a:xfrm>
            <a:off x="914400" y="3017520"/>
            <a:ext cx="731520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3108960"/>
            <a:ext cx="262661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C453D"/>
                </a:solidFill>
              </a:defRPr>
            </a:pPr>
            <a:r>
              <a:rPr lang="sr-Cyrl-RS" dirty="0"/>
              <a:t>Анализа кашњења </a:t>
            </a:r>
            <a:r>
              <a:rPr dirty="0"/>
              <a:t>(6 </a:t>
            </a:r>
            <a:r>
              <a:rPr lang="sr-Cyrl-RS" dirty="0"/>
              <a:t>дана</a:t>
            </a:r>
            <a:r>
              <a:rPr dirty="0"/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83279"/>
            <a:ext cx="6766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t>Pearson: r = 0.226, p = 0.024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611879"/>
            <a:ext cx="199387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39C12"/>
                </a:solidFill>
              </a:defRPr>
            </a:pPr>
            <a:r>
              <a:rPr dirty="0"/>
              <a:t>✅ </a:t>
            </a:r>
            <a:r>
              <a:rPr lang="sr-Cyrl-RS" dirty="0"/>
              <a:t>Статистички значајно!</a:t>
            </a: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914400" y="4206240"/>
            <a:ext cx="731520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4297679"/>
            <a:ext cx="160794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C453D"/>
                </a:solidFill>
              </a:defRPr>
            </a:pPr>
            <a:r>
              <a:rPr lang="sr-Cyrl-RS" dirty="0"/>
              <a:t>Интерпретација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1188720" y="4572000"/>
            <a:ext cx="183095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lang="sr-Cyrl-RS" dirty="0"/>
              <a:t>Цена води сентимент</a:t>
            </a:r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1188720" y="4800600"/>
            <a:ext cx="20794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34495E"/>
                </a:solidFill>
              </a:defRPr>
            </a:pPr>
            <a:r>
              <a:rPr lang="sr-Cyrl-RS" dirty="0"/>
              <a:t>Сентимент реагује на цену</a:t>
            </a:r>
            <a:endParaRPr dirty="0"/>
          </a:p>
        </p:txBody>
      </p:sp>
      <p:sp>
        <p:nvSpPr>
          <p:cNvPr id="16" name="Rectangle 15"/>
          <p:cNvSpPr/>
          <p:nvPr/>
        </p:nvSpPr>
        <p:spPr>
          <a:xfrm>
            <a:off x="914400" y="5303520"/>
            <a:ext cx="7315200" cy="109728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88720" y="5486400"/>
            <a:ext cx="67665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C453D"/>
                </a:solidFill>
              </a:defRPr>
            </a:pPr>
            <a:r>
              <a:rPr lang="ru-RU" dirty="0"/>
              <a:t>Кључни налаз: </a:t>
            </a:r>
            <a:r>
              <a:rPr lang="en-US" dirty="0"/>
              <a:t>Twitter</a:t>
            </a:r>
            <a:r>
              <a:rPr lang="ru-RU" dirty="0"/>
              <a:t> сентимент НЕ предвиђа </a:t>
            </a:r>
            <a:r>
              <a:rPr lang="en-US" dirty="0"/>
              <a:t>Bitcoin</a:t>
            </a:r>
            <a:r>
              <a:rPr lang="ru-RU" dirty="0"/>
              <a:t> цену, већ реагује на њу са кашњењем од ~6 дана. Корисници коментаришу постојеће кретање цене уместо да антиципирају будуће промене.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4576509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/>
              <a:t>Евалуација и метрике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647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/>
              <a:t>Метрике класификације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en-US" dirty="0"/>
              <a:t>Accuracy</a:t>
            </a:r>
            <a:r>
              <a:rPr dirty="0"/>
              <a:t>: </a:t>
            </a:r>
            <a:r>
              <a:rPr lang="sr-Cyrl-RS" dirty="0"/>
              <a:t>Укупна тачност класификације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Precision: </a:t>
            </a:r>
            <a:r>
              <a:rPr lang="sr-Cyrl-RS" dirty="0"/>
              <a:t>Тачност позитивних предикција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Recall: </a:t>
            </a:r>
            <a:r>
              <a:rPr lang="sr-Cyrl-RS" dirty="0"/>
              <a:t>Покривеност стварних позитивних случајева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F1-Score: </a:t>
            </a:r>
            <a:r>
              <a:rPr lang="sr-Cyrl-RS" dirty="0"/>
              <a:t>Хармонијска средина </a:t>
            </a:r>
            <a:r>
              <a:rPr dirty="0"/>
              <a:t>precision</a:t>
            </a:r>
            <a:r>
              <a:rPr lang="sr-Cyrl-RS" dirty="0"/>
              <a:t>-а</a:t>
            </a:r>
            <a:r>
              <a:rPr dirty="0"/>
              <a:t> </a:t>
            </a:r>
            <a:r>
              <a:rPr lang="sr-Cyrl-RS" dirty="0"/>
              <a:t>и</a:t>
            </a:r>
            <a:r>
              <a:rPr dirty="0"/>
              <a:t> recall</a:t>
            </a:r>
            <a:r>
              <a:rPr lang="sr-Cyrl-RS" dirty="0"/>
              <a:t>-а</a:t>
            </a:r>
            <a:endParaRPr dirty="0"/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/>
              <a:t>Унакрсна валидација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5-</a:t>
            </a:r>
            <a:r>
              <a:rPr lang="en-US" dirty="0"/>
              <a:t>f</a:t>
            </a:r>
            <a:r>
              <a:rPr dirty="0"/>
              <a:t>old stratified cross-validation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Омогућава робусну процену генерализације модела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Смањује утицај случајне поделе података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/>
              <a:t>Матрица конфузије (енгл. </a:t>
            </a:r>
            <a:r>
              <a:rPr dirty="0"/>
              <a:t>Confusion Matrix</a:t>
            </a:r>
            <a:r>
              <a:rPr lang="sr-Cyrl-RS" dirty="0"/>
              <a:t>)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Детаљни увид у грешке класификације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Идентификација проблематичних класа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BERT: </a:t>
            </a:r>
            <a:r>
              <a:rPr lang="sr-Cyrl-RS" dirty="0"/>
              <a:t>најбоље разликовање између класа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5875968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/>
              <a:t>Технички изазови и решења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026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/>
              <a:t>Изазови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Небалансиран</a:t>
            </a:r>
            <a:r>
              <a:rPr dirty="0"/>
              <a:t> </a:t>
            </a:r>
            <a:r>
              <a:rPr lang="sr-Cyrl-RS" dirty="0"/>
              <a:t>скуп података</a:t>
            </a:r>
            <a:r>
              <a:rPr dirty="0"/>
              <a:t> → </a:t>
            </a:r>
            <a:r>
              <a:rPr lang="sr-Cyrl-RS" dirty="0"/>
              <a:t>Аугментација података (енгл. </a:t>
            </a:r>
            <a:r>
              <a:rPr lang="en-US" dirty="0"/>
              <a:t>d</a:t>
            </a:r>
            <a:r>
              <a:rPr dirty="0"/>
              <a:t>ata augmentation</a:t>
            </a:r>
            <a:r>
              <a:rPr lang="sr-Cyrl-RS" dirty="0"/>
              <a:t>)</a:t>
            </a:r>
            <a:r>
              <a:rPr dirty="0"/>
              <a:t> </a:t>
            </a:r>
            <a:r>
              <a:rPr lang="sr-Cyrl-RS" dirty="0"/>
              <a:t>и</a:t>
            </a:r>
            <a:r>
              <a:rPr dirty="0"/>
              <a:t> </a:t>
            </a:r>
            <a:r>
              <a:rPr lang="sr-Cyrl-RS" dirty="0"/>
              <a:t>пондерисани губитак (енгл. </a:t>
            </a:r>
            <a:r>
              <a:rPr dirty="0"/>
              <a:t>weighted loss</a:t>
            </a:r>
            <a:r>
              <a:rPr lang="sr-Cyrl-RS" dirty="0"/>
              <a:t>)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Сленг и нестандардан језик </a:t>
            </a:r>
            <a:r>
              <a:rPr dirty="0"/>
              <a:t>→ </a:t>
            </a:r>
            <a:r>
              <a:rPr lang="sr-Cyrl-RS" dirty="0"/>
              <a:t>Екстензивно претпроцесирање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BERT GPU </a:t>
            </a:r>
            <a:r>
              <a:rPr lang="sr-Cyrl-RS" dirty="0"/>
              <a:t>меморија</a:t>
            </a:r>
            <a:r>
              <a:rPr dirty="0"/>
              <a:t> → Batch size </a:t>
            </a:r>
            <a:r>
              <a:rPr lang="sr-Cyrl-RS" dirty="0"/>
              <a:t>оптимизација</a:t>
            </a:r>
            <a:r>
              <a:rPr dirty="0"/>
              <a:t> (16)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sz="1600" dirty="0"/>
              <a:t>Преобучавање (енгл. </a:t>
            </a:r>
            <a:r>
              <a:rPr lang="en-US" sz="1600" dirty="0"/>
              <a:t>o</a:t>
            </a:r>
            <a:r>
              <a:rPr dirty="0"/>
              <a:t>verfitting</a:t>
            </a:r>
            <a:r>
              <a:rPr lang="sr-Cyrl-RS" dirty="0"/>
              <a:t>)</a:t>
            </a:r>
            <a:r>
              <a:rPr dirty="0"/>
              <a:t> → </a:t>
            </a:r>
            <a:r>
              <a:rPr lang="sr-Cyrl-RS" dirty="0"/>
              <a:t>Испадање (енгл. </a:t>
            </a:r>
            <a:r>
              <a:rPr lang="en-US" dirty="0"/>
              <a:t>d</a:t>
            </a:r>
            <a:r>
              <a:rPr dirty="0"/>
              <a:t>ropout</a:t>
            </a:r>
            <a:r>
              <a:rPr lang="sr-Cyrl-RS" dirty="0"/>
              <a:t>)</a:t>
            </a:r>
            <a:r>
              <a:rPr dirty="0"/>
              <a:t> (0.3) </a:t>
            </a:r>
            <a:r>
              <a:rPr lang="sr-Cyrl-RS" dirty="0"/>
              <a:t>и</a:t>
            </a:r>
            <a:r>
              <a:rPr dirty="0"/>
              <a:t> </a:t>
            </a:r>
            <a:r>
              <a:rPr lang="sr-Cyrl-RS" dirty="0"/>
              <a:t>превремено заустављање (енгл. </a:t>
            </a:r>
            <a:r>
              <a:rPr dirty="0"/>
              <a:t>early stopping</a:t>
            </a:r>
            <a:r>
              <a:rPr lang="sr-Cyrl-RS" dirty="0"/>
              <a:t>)</a:t>
            </a:r>
            <a:endParaRPr dirty="0"/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/>
              <a:t>Оптимизације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GPU </a:t>
            </a:r>
            <a:r>
              <a:rPr lang="sr-Cyrl-RS" dirty="0"/>
              <a:t>убрзање</a:t>
            </a:r>
            <a:r>
              <a:rPr dirty="0"/>
              <a:t> (RTX 4060) → 10x </a:t>
            </a:r>
            <a:r>
              <a:rPr lang="sr-Cyrl-RS" dirty="0"/>
              <a:t>брже</a:t>
            </a:r>
            <a:r>
              <a:rPr dirty="0"/>
              <a:t> BERT </a:t>
            </a:r>
            <a:r>
              <a:rPr lang="sr-Cyrl-RS" dirty="0"/>
              <a:t>тренирање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Подешавање хиперпараметара </a:t>
            </a:r>
            <a:r>
              <a:rPr dirty="0"/>
              <a:t>→ </a:t>
            </a:r>
            <a:r>
              <a:rPr dirty="0" err="1"/>
              <a:t>GridSearchCV</a:t>
            </a:r>
            <a:r>
              <a:rPr dirty="0"/>
              <a:t> </a:t>
            </a:r>
            <a:r>
              <a:rPr lang="sr-Cyrl-RS" dirty="0"/>
              <a:t>за</a:t>
            </a:r>
            <a:r>
              <a:rPr dirty="0"/>
              <a:t> SVM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Распоред брзине учења </a:t>
            </a:r>
            <a:r>
              <a:rPr dirty="0"/>
              <a:t>→ </a:t>
            </a:r>
            <a:r>
              <a:rPr dirty="0" err="1"/>
              <a:t>StepLR</a:t>
            </a:r>
            <a:r>
              <a:rPr dirty="0"/>
              <a:t> </a:t>
            </a:r>
            <a:r>
              <a:rPr lang="sr-Cyrl-RS" dirty="0"/>
              <a:t>за</a:t>
            </a:r>
            <a:r>
              <a:rPr dirty="0"/>
              <a:t> BERT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Кеширање података</a:t>
            </a:r>
            <a:r>
              <a:rPr dirty="0"/>
              <a:t> → </a:t>
            </a:r>
            <a:r>
              <a:rPr lang="sr-Cyrl-RS" dirty="0"/>
              <a:t>Убрзање</a:t>
            </a:r>
            <a:r>
              <a:rPr dirty="0"/>
              <a:t> </a:t>
            </a:r>
            <a:r>
              <a:rPr lang="sr-Cyrl-RS" dirty="0"/>
              <a:t>претпроцесирања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5577168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/>
              <a:t>Закључак и будући правци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731520" y="1645919"/>
            <a:ext cx="7680960" cy="1780861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2576346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C453D"/>
                </a:solidFill>
              </a:defRPr>
            </a:pPr>
            <a:r>
              <a:rPr lang="sr-Cyrl-RS" dirty="0"/>
              <a:t>Постигнути резултати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7315200" cy="1297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 </a:t>
            </a:r>
            <a:r>
              <a:rPr lang="sr-Cyrl-RS" dirty="0"/>
              <a:t>Успешно имплементирана </a:t>
            </a:r>
            <a:r>
              <a:rPr dirty="0"/>
              <a:t>3 ML </a:t>
            </a:r>
            <a:r>
              <a:rPr lang="sr-Cyrl-RS" dirty="0"/>
              <a:t>модела</a:t>
            </a:r>
            <a:r>
              <a:rPr dirty="0"/>
              <a:t> (Naive Bayes, SVM, BERT)</a:t>
            </a:r>
            <a:endParaRPr lang="sr-Cyrl-RS" dirty="0"/>
          </a:p>
          <a:p>
            <a:pPr>
              <a:spcAft>
                <a:spcPts val="4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 SVM </a:t>
            </a:r>
            <a:r>
              <a:rPr lang="sr-Cyrl-RS" dirty="0"/>
              <a:t>постигао</a:t>
            </a:r>
            <a:r>
              <a:rPr dirty="0"/>
              <a:t> </a:t>
            </a:r>
            <a:r>
              <a:rPr lang="sr-Cyrl-RS" dirty="0"/>
              <a:t>изванредну тачност од</a:t>
            </a:r>
            <a:r>
              <a:rPr dirty="0"/>
              <a:t> 95.24%</a:t>
            </a:r>
          </a:p>
          <a:p>
            <a:pPr>
              <a:spcAft>
                <a:spcPts val="4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 BERT </a:t>
            </a:r>
            <a:r>
              <a:rPr lang="sr-Cyrl-RS" dirty="0"/>
              <a:t>демонстрирао</a:t>
            </a:r>
            <a:r>
              <a:rPr dirty="0"/>
              <a:t> </a:t>
            </a:r>
            <a:r>
              <a:rPr lang="sr-Cyrl-RS" dirty="0"/>
              <a:t>изванредне</a:t>
            </a:r>
            <a:r>
              <a:rPr dirty="0"/>
              <a:t> </a:t>
            </a:r>
            <a:r>
              <a:rPr lang="sr-Cyrl-RS" dirty="0"/>
              <a:t>перформансе</a:t>
            </a:r>
            <a:r>
              <a:rPr dirty="0"/>
              <a:t> (94.84%)</a:t>
            </a:r>
          </a:p>
          <a:p>
            <a:pPr>
              <a:spcAft>
                <a:spcPts val="4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 </a:t>
            </a:r>
            <a:r>
              <a:rPr lang="ru-RU" dirty="0"/>
              <a:t>Корелациона анализа открила статистички значајну везу </a:t>
            </a:r>
            <a:r>
              <a:rPr dirty="0"/>
              <a:t>(</a:t>
            </a:r>
            <a:r>
              <a:rPr lang="sr-Cyrl-RS" dirty="0"/>
              <a:t>кашњење</a:t>
            </a:r>
            <a:r>
              <a:rPr dirty="0"/>
              <a:t> 6 </a:t>
            </a:r>
            <a:r>
              <a:rPr lang="sr-Cyrl-RS" dirty="0"/>
              <a:t>дана</a:t>
            </a:r>
            <a:r>
              <a:rPr dirty="0"/>
              <a:t>)</a:t>
            </a:r>
          </a:p>
          <a:p>
            <a:pPr>
              <a:spcAft>
                <a:spcPts val="4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 </a:t>
            </a:r>
            <a:r>
              <a:rPr lang="ru-RU" dirty="0"/>
              <a:t>Показано да сентимент реагује на цену, не предвиђа је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657600"/>
            <a:ext cx="7680960" cy="2286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749039"/>
            <a:ext cx="274774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C453D"/>
                </a:solidFill>
              </a:defRPr>
            </a:pPr>
            <a:r>
              <a:rPr lang="sr-Cyrl-RS" dirty="0"/>
              <a:t>Будући правци развоја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7315200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rPr dirty="0"/>
              <a:t> </a:t>
            </a:r>
            <a:r>
              <a:rPr lang="ru-RU" dirty="0"/>
              <a:t>Контролна табла за праћење сентимента у реалном времену</a:t>
            </a:r>
            <a:endParaRPr dirty="0"/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rPr dirty="0"/>
              <a:t> </a:t>
            </a:r>
            <a:r>
              <a:rPr lang="ru-RU" dirty="0"/>
              <a:t>Проширење анализе на више криптовалута </a:t>
            </a:r>
            <a:r>
              <a:rPr dirty="0"/>
              <a:t>(</a:t>
            </a:r>
            <a:r>
              <a:rPr dirty="0" err="1"/>
              <a:t>Ethereum</a:t>
            </a:r>
            <a:r>
              <a:rPr dirty="0"/>
              <a:t>, Solana, </a:t>
            </a:r>
            <a:r>
              <a:rPr lang="sr-Cyrl-RS" dirty="0"/>
              <a:t>итд</a:t>
            </a:r>
            <a:r>
              <a:rPr dirty="0"/>
              <a:t>.)</a:t>
            </a:r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rPr lang="sr-Cyrl-RS" dirty="0"/>
              <a:t> Мултимодална анализа</a:t>
            </a:r>
            <a:r>
              <a:rPr dirty="0"/>
              <a:t> (</a:t>
            </a:r>
            <a:r>
              <a:rPr lang="sr-Cyrl-RS" dirty="0"/>
              <a:t>текст</a:t>
            </a:r>
            <a:r>
              <a:rPr dirty="0"/>
              <a:t> + </a:t>
            </a:r>
            <a:r>
              <a:rPr lang="sr-Cyrl-RS" dirty="0"/>
              <a:t>слике са </a:t>
            </a:r>
            <a:r>
              <a:rPr dirty="0"/>
              <a:t>Twitter-</a:t>
            </a:r>
            <a:r>
              <a:rPr lang="sr-Cyrl-RS" dirty="0"/>
              <a:t>а</a:t>
            </a:r>
            <a:r>
              <a:rPr dirty="0"/>
              <a:t>)</a:t>
            </a:r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rPr dirty="0"/>
              <a:t> </a:t>
            </a:r>
            <a:r>
              <a:rPr lang="sr-Cyrl-RS" dirty="0"/>
              <a:t>Оптимизација</a:t>
            </a:r>
            <a:r>
              <a:rPr dirty="0"/>
              <a:t> BERT </a:t>
            </a:r>
            <a:r>
              <a:rPr lang="sr-Cyrl-RS" dirty="0"/>
              <a:t>модела</a:t>
            </a:r>
            <a:r>
              <a:rPr dirty="0"/>
              <a:t> (</a:t>
            </a:r>
            <a:r>
              <a:rPr dirty="0" err="1"/>
              <a:t>DistilBERT</a:t>
            </a:r>
            <a:r>
              <a:rPr dirty="0"/>
              <a:t>, </a:t>
            </a:r>
            <a:r>
              <a:rPr lang="sr-Cyrl-RS" dirty="0"/>
              <a:t>лагане (енгл. </a:t>
            </a:r>
            <a:r>
              <a:rPr dirty="0"/>
              <a:t>lightweight</a:t>
            </a:r>
            <a:r>
              <a:rPr lang="sr-Cyrl-RS" dirty="0"/>
              <a:t>)</a:t>
            </a:r>
            <a:r>
              <a:rPr dirty="0"/>
              <a:t> </a:t>
            </a:r>
            <a:r>
              <a:rPr lang="sr-Cyrl-RS" dirty="0"/>
              <a:t>верзије</a:t>
            </a:r>
            <a:r>
              <a:rPr dirty="0"/>
              <a:t>)</a:t>
            </a:r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rPr lang="sr-Cyrl-RS" dirty="0"/>
              <a:t> Имплементација као</a:t>
            </a:r>
            <a:r>
              <a:rPr dirty="0"/>
              <a:t> REST API </a:t>
            </a:r>
            <a:r>
              <a:rPr lang="sr-Cyrl-RS" dirty="0"/>
              <a:t>за екстерни приступ</a:t>
            </a:r>
            <a:endParaRPr dirty="0"/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rPr dirty="0"/>
              <a:t> </a:t>
            </a:r>
            <a:r>
              <a:rPr lang="sr-Cyrl-RS" dirty="0"/>
              <a:t>Интеграција са трејдинг платформама за аутоматске сигнале</a:t>
            </a:r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rPr dirty="0"/>
              <a:t> </a:t>
            </a:r>
            <a:r>
              <a:rPr lang="ru-RU" dirty="0"/>
              <a:t>Експерименти са новим</a:t>
            </a:r>
            <a:r>
              <a:rPr lang="sr-Cyrl-RS" dirty="0"/>
              <a:t> трансформер </a:t>
            </a:r>
            <a:r>
              <a:rPr lang="ru-RU" dirty="0"/>
              <a:t>архитектурама </a:t>
            </a:r>
            <a:r>
              <a:rPr dirty="0"/>
              <a:t>(GPT-4, </a:t>
            </a:r>
            <a:r>
              <a:t>L</a:t>
            </a:r>
            <a:r>
              <a:rPr lang="en-US"/>
              <a:t>lama</a:t>
            </a:r>
            <a:r>
              <a:t>)</a:t>
            </a: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828800" y="2286000"/>
            <a:ext cx="54864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rPr lang="sr-Cyrl-R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Хвала на пажњи!</a:t>
            </a:r>
            <a:endParaRPr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447158" y="5029200"/>
            <a:ext cx="4249690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DD5C8"/>
                </a:solidFill>
              </a:defRPr>
            </a:pPr>
            <a:r>
              <a:rPr lang="sr-Cyrl-RS" sz="2000" b="1" dirty="0"/>
              <a:t>Борис Летић</a:t>
            </a:r>
            <a:r>
              <a:rPr sz="2000" b="1" dirty="0"/>
              <a:t> | RA 207/2021</a:t>
            </a:r>
            <a:br>
              <a:rPr sz="2000" b="1" dirty="0"/>
            </a:br>
            <a:r>
              <a:rPr lang="sr-Cyrl-RS" sz="2000" b="1" dirty="0"/>
              <a:t>Факултет техничких наука, Нови Сад</a:t>
            </a:r>
            <a:endParaRPr sz="2000" b="1" dirty="0"/>
          </a:p>
        </p:txBody>
      </p:sp>
      <p:sp>
        <p:nvSpPr>
          <p:cNvPr id="5" name="TextBox 4"/>
          <p:cNvSpPr txBox="1"/>
          <p:nvPr/>
        </p:nvSpPr>
        <p:spPr>
          <a:xfrm>
            <a:off x="3484485" y="3719155"/>
            <a:ext cx="21750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Cyrl-RS" sz="4000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Питања?</a:t>
            </a:r>
            <a:endParaRPr lang="en-US" sz="4000" b="1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</TotalTime>
  <Words>1123</Words>
  <Application>Microsoft Office PowerPoint</Application>
  <PresentationFormat>On-screen Show (4:3)</PresentationFormat>
  <Paragraphs>188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Boris Letic</cp:lastModifiedBy>
  <cp:revision>59</cp:revision>
  <dcterms:created xsi:type="dcterms:W3CDTF">2013-01-27T09:14:16Z</dcterms:created>
  <dcterms:modified xsi:type="dcterms:W3CDTF">2025-11-24T18:47:20Z</dcterms:modified>
  <cp:category/>
</cp:coreProperties>
</file>