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453D"/>
    <a:srgbClr val="9DD5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170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67773" y="1909676"/>
            <a:ext cx="4572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453D"/>
                </a:solidFill>
              </a:defRPr>
            </a:pPr>
            <a:r>
              <a:rPr lang="pl-PL" sz="3200" b="1" dirty="0"/>
              <a:t>Analiza </a:t>
            </a:r>
            <a:r>
              <a:rPr lang="pl-PL" sz="3200" b="1" dirty="0" smtClean="0"/>
              <a:t>sentimenta </a:t>
            </a:r>
            <a:r>
              <a:rPr lang="pl-PL" sz="3200" b="1" dirty="0"/>
              <a:t>k</a:t>
            </a:r>
            <a:r>
              <a:rPr lang="pl-PL" sz="3200" b="1" dirty="0" smtClean="0"/>
              <a:t>ripto </a:t>
            </a:r>
            <a:r>
              <a:rPr lang="pl-PL" sz="3200" b="1" dirty="0"/>
              <a:t>z</a:t>
            </a:r>
            <a:r>
              <a:rPr lang="pl-PL" sz="3200" b="1" dirty="0" smtClean="0"/>
              <a:t>ajednice </a:t>
            </a:r>
            <a:r>
              <a:rPr lang="pl-PL" sz="3200" b="1" dirty="0"/>
              <a:t>na </a:t>
            </a:r>
            <a:r>
              <a:rPr lang="pl-PL" sz="3200" b="1" dirty="0" smtClean="0"/>
              <a:t>društvenim </a:t>
            </a:r>
            <a:r>
              <a:rPr lang="pl-PL" sz="3200" b="1" dirty="0"/>
              <a:t>m</a:t>
            </a:r>
            <a:r>
              <a:rPr lang="pl-PL" sz="3200" b="1" dirty="0" smtClean="0"/>
              <a:t>režama</a:t>
            </a:r>
            <a:r>
              <a:rPr lang="en-US" sz="3200" b="1" dirty="0" smtClean="0"/>
              <a:t> </a:t>
            </a:r>
            <a:r>
              <a:rPr lang="sr-Latn-RS" sz="3200" b="1" dirty="0" smtClean="0"/>
              <a:t>p</a:t>
            </a:r>
            <a:r>
              <a:rPr lang="en-US" sz="3200" b="1" dirty="0" err="1" smtClean="0"/>
              <a:t>omo</a:t>
            </a:r>
            <a:r>
              <a:rPr lang="sr-Latn-RS" sz="3200" b="1" dirty="0" smtClean="0"/>
              <a:t>ću</a:t>
            </a:r>
            <a:r>
              <a:rPr lang="sr-Latn-RS" sz="3200" b="1" dirty="0"/>
              <a:t> m</a:t>
            </a:r>
            <a:r>
              <a:rPr lang="sr-Latn-RS" sz="3200" b="1" dirty="0" smtClean="0"/>
              <a:t>ašinskog </a:t>
            </a:r>
            <a:r>
              <a:rPr lang="sr-Latn-RS" sz="3200" b="1" dirty="0"/>
              <a:t>u</a:t>
            </a:r>
            <a:r>
              <a:rPr lang="sr-Latn-RS" sz="3200" b="1" dirty="0" smtClean="0"/>
              <a:t>čenja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3215" y="6158884"/>
            <a:ext cx="2470163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4495E"/>
                </a:solidFill>
              </a:defRPr>
            </a:pPr>
            <a:r>
              <a:rPr sz="3200" dirty="0" err="1">
                <a:solidFill>
                  <a:srgbClr val="9DD5C8"/>
                </a:solidFill>
              </a:rPr>
              <a:t>Diplomski</a:t>
            </a:r>
            <a:r>
              <a:rPr sz="3200" dirty="0">
                <a:solidFill>
                  <a:srgbClr val="9DD5C8"/>
                </a:solidFill>
              </a:rPr>
              <a:t> rad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7773" y="6112717"/>
            <a:ext cx="2829429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 dirty="0" err="1" smtClean="0">
                <a:solidFill>
                  <a:srgbClr val="1C453D"/>
                </a:solidFill>
              </a:rPr>
              <a:t>Univerzitet</a:t>
            </a:r>
            <a:r>
              <a:rPr sz="1900" b="1" dirty="0" smtClean="0">
                <a:solidFill>
                  <a:srgbClr val="1C453D"/>
                </a:solidFill>
              </a:rPr>
              <a:t> </a:t>
            </a:r>
            <a:r>
              <a:rPr sz="1900" b="1" dirty="0">
                <a:solidFill>
                  <a:srgbClr val="1C453D"/>
                </a:solidFill>
              </a:rPr>
              <a:t>u </a:t>
            </a:r>
            <a:r>
              <a:rPr sz="1900" b="1" dirty="0" err="1">
                <a:solidFill>
                  <a:srgbClr val="1C453D"/>
                </a:solidFill>
              </a:rPr>
              <a:t>Novom</a:t>
            </a:r>
            <a:r>
              <a:rPr sz="1900" b="1" dirty="0">
                <a:solidFill>
                  <a:srgbClr val="1C453D"/>
                </a:solidFill>
              </a:rPr>
              <a:t> </a:t>
            </a:r>
            <a:r>
              <a:rPr sz="1900" b="1" dirty="0" err="1" smtClean="0">
                <a:solidFill>
                  <a:srgbClr val="1C453D"/>
                </a:solidFill>
              </a:rPr>
              <a:t>Sadu</a:t>
            </a:r>
            <a:endParaRPr lang="en-US" sz="1900" b="1" dirty="0" smtClean="0">
              <a:solidFill>
                <a:srgbClr val="1C453D"/>
              </a:solidFill>
            </a:endParaRPr>
          </a:p>
          <a:p>
            <a:r>
              <a:rPr sz="1900" b="1" dirty="0" err="1" smtClean="0">
                <a:solidFill>
                  <a:srgbClr val="1C453D"/>
                </a:solidFill>
              </a:rPr>
              <a:t>Fakultet</a:t>
            </a:r>
            <a:r>
              <a:rPr sz="1900" b="1" dirty="0" smtClean="0">
                <a:solidFill>
                  <a:srgbClr val="1C453D"/>
                </a:solidFill>
              </a:rPr>
              <a:t> </a:t>
            </a:r>
            <a:r>
              <a:rPr sz="1900" b="1" dirty="0" err="1">
                <a:solidFill>
                  <a:srgbClr val="1C453D"/>
                </a:solidFill>
              </a:rPr>
              <a:t>tehničkih</a:t>
            </a:r>
            <a:r>
              <a:rPr sz="1900" b="1" dirty="0">
                <a:solidFill>
                  <a:srgbClr val="1C453D"/>
                </a:solidFill>
              </a:rPr>
              <a:t> </a:t>
            </a:r>
            <a:r>
              <a:rPr sz="1900" b="1" dirty="0" err="1">
                <a:solidFill>
                  <a:srgbClr val="1C453D"/>
                </a:solidFill>
              </a:rPr>
              <a:t>nauka</a:t>
            </a:r>
            <a:endParaRPr sz="1900" b="1" dirty="0">
              <a:solidFill>
                <a:srgbClr val="1C453D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 flipH="1">
            <a:off x="4167773" y="4937836"/>
            <a:ext cx="475428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en-US" sz="1900" b="1" dirty="0" smtClean="0">
                <a:solidFill>
                  <a:srgbClr val="1C453D"/>
                </a:solidFill>
              </a:rPr>
              <a:t>Mentor: </a:t>
            </a:r>
            <a:r>
              <a:rPr lang="en-US" sz="1900" b="1" dirty="0" err="1" smtClean="0">
                <a:solidFill>
                  <a:srgbClr val="1C453D"/>
                </a:solidFill>
              </a:rPr>
              <a:t>dr</a:t>
            </a:r>
            <a:r>
              <a:rPr lang="en-US" sz="1900" b="1" dirty="0" smtClean="0">
                <a:solidFill>
                  <a:srgbClr val="1C453D"/>
                </a:solidFill>
              </a:rPr>
              <a:t> </a:t>
            </a:r>
            <a:r>
              <a:rPr lang="en-US" sz="1900" b="1" dirty="0" err="1" smtClean="0">
                <a:solidFill>
                  <a:srgbClr val="1C453D"/>
                </a:solidFill>
              </a:rPr>
              <a:t>Dušan</a:t>
            </a:r>
            <a:r>
              <a:rPr lang="en-US" sz="1900" b="1" dirty="0" smtClean="0">
                <a:solidFill>
                  <a:srgbClr val="1C453D"/>
                </a:solidFill>
              </a:rPr>
              <a:t> </a:t>
            </a:r>
            <a:r>
              <a:rPr lang="en-US" sz="1900" b="1" dirty="0" err="1" smtClean="0">
                <a:solidFill>
                  <a:srgbClr val="1C453D"/>
                </a:solidFill>
              </a:rPr>
              <a:t>Gajić</a:t>
            </a:r>
            <a:r>
              <a:rPr lang="en-US" sz="1900" b="1" dirty="0" smtClean="0">
                <a:solidFill>
                  <a:srgbClr val="1C453D"/>
                </a:solidFill>
              </a:rPr>
              <a:t>, </a:t>
            </a:r>
            <a:r>
              <a:rPr lang="en-US" sz="1900" b="1" dirty="0" err="1" smtClean="0">
                <a:solidFill>
                  <a:srgbClr val="1C453D"/>
                </a:solidFill>
              </a:rPr>
              <a:t>vanredni</a:t>
            </a:r>
            <a:r>
              <a:rPr lang="sr-Latn-RS" sz="1900" b="1" dirty="0" smtClean="0">
                <a:solidFill>
                  <a:srgbClr val="1C453D"/>
                </a:solidFill>
              </a:rPr>
              <a:t> </a:t>
            </a:r>
            <a:r>
              <a:rPr lang="en-US" sz="1900" b="1" dirty="0" err="1" smtClean="0">
                <a:solidFill>
                  <a:srgbClr val="1C453D"/>
                </a:solidFill>
              </a:rPr>
              <a:t>profesor</a:t>
            </a:r>
            <a:endParaRPr lang="en-US" sz="1900" b="1" dirty="0" smtClean="0">
              <a:solidFill>
                <a:srgbClr val="1C453D"/>
              </a:solidFill>
            </a:endParaRPr>
          </a:p>
          <a:p>
            <a:pPr>
              <a:defRPr sz="1400">
                <a:solidFill>
                  <a:srgbClr val="34495E"/>
                </a:solidFill>
              </a:defRPr>
            </a:pPr>
            <a:r>
              <a:rPr lang="en-US" sz="1900" b="1" dirty="0" err="1" smtClean="0">
                <a:solidFill>
                  <a:srgbClr val="1C453D"/>
                </a:solidFill>
              </a:rPr>
              <a:t>Kandidat</a:t>
            </a:r>
            <a:r>
              <a:rPr lang="en-US" sz="1900" b="1" dirty="0" smtClean="0">
                <a:solidFill>
                  <a:srgbClr val="1C453D"/>
                </a:solidFill>
              </a:rPr>
              <a:t>: Boris </a:t>
            </a:r>
            <a:r>
              <a:rPr lang="en-US" sz="1900" b="1" dirty="0" err="1" smtClean="0">
                <a:solidFill>
                  <a:srgbClr val="1C453D"/>
                </a:solidFill>
              </a:rPr>
              <a:t>Letić</a:t>
            </a:r>
            <a:r>
              <a:rPr lang="en-US" sz="1900" b="1" dirty="0" smtClean="0">
                <a:solidFill>
                  <a:srgbClr val="1C453D"/>
                </a:solidFill>
              </a:rPr>
              <a:t> RA 207/2021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dirty="0"/>
              <a:t>Problem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Motivacija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 err="1"/>
              <a:t>Tradicionalni</a:t>
            </a:r>
            <a:r>
              <a:rPr dirty="0"/>
              <a:t> </a:t>
            </a:r>
            <a:r>
              <a:rPr dirty="0" err="1"/>
              <a:t>pristup</a:t>
            </a:r>
            <a:r>
              <a:rPr dirty="0"/>
              <a:t> </a:t>
            </a:r>
            <a:r>
              <a:rPr dirty="0" err="1"/>
              <a:t>analizi</a:t>
            </a:r>
            <a:r>
              <a:rPr dirty="0"/>
              <a:t> </a:t>
            </a:r>
            <a:r>
              <a:rPr dirty="0" err="1"/>
              <a:t>javnog</a:t>
            </a:r>
            <a:r>
              <a:rPr dirty="0"/>
              <a:t> </a:t>
            </a:r>
            <a:r>
              <a:rPr dirty="0" err="1"/>
              <a:t>mišljenja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err="1"/>
              <a:t>Ručna</a:t>
            </a:r>
            <a:r>
              <a:rPr dirty="0"/>
              <a:t> </a:t>
            </a:r>
            <a:r>
              <a:rPr dirty="0" err="1"/>
              <a:t>analiza</a:t>
            </a:r>
            <a:r>
              <a:rPr dirty="0"/>
              <a:t> </a:t>
            </a:r>
            <a:r>
              <a:rPr dirty="0" err="1"/>
              <a:t>hiljada</a:t>
            </a:r>
            <a:r>
              <a:rPr dirty="0"/>
              <a:t> </a:t>
            </a:r>
            <a:r>
              <a:rPr dirty="0" err="1"/>
              <a:t>tweetova</a:t>
            </a:r>
            <a:r>
              <a:rPr dirty="0"/>
              <a:t> - </a:t>
            </a:r>
            <a:r>
              <a:rPr dirty="0" err="1"/>
              <a:t>nemoguća</a:t>
            </a:r>
            <a:r>
              <a:rPr dirty="0"/>
              <a:t> u </a:t>
            </a:r>
            <a:r>
              <a:rPr dirty="0" err="1"/>
              <a:t>realnom</a:t>
            </a:r>
            <a:r>
              <a:rPr dirty="0"/>
              <a:t> </a:t>
            </a:r>
            <a:r>
              <a:rPr dirty="0" err="1"/>
              <a:t>vremenu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err="1"/>
              <a:t>Subjektivnost</a:t>
            </a:r>
            <a:r>
              <a:rPr dirty="0"/>
              <a:t> </a:t>
            </a:r>
            <a:r>
              <a:rPr dirty="0" err="1"/>
              <a:t>ljudske</a:t>
            </a:r>
            <a:r>
              <a:rPr dirty="0"/>
              <a:t> </a:t>
            </a:r>
            <a:r>
              <a:rPr dirty="0" err="1"/>
              <a:t>interpretacije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err="1"/>
              <a:t>Visoki</a:t>
            </a:r>
            <a:r>
              <a:rPr dirty="0"/>
              <a:t> </a:t>
            </a:r>
            <a:r>
              <a:rPr dirty="0" err="1"/>
              <a:t>troškovi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vreme</a:t>
            </a:r>
            <a:r>
              <a:rPr dirty="0"/>
              <a:t> </a:t>
            </a:r>
            <a:r>
              <a:rPr dirty="0" err="1"/>
              <a:t>potrebno</a:t>
            </a:r>
            <a:r>
              <a:rPr dirty="0"/>
              <a:t> </a:t>
            </a:r>
            <a:r>
              <a:rPr dirty="0" err="1"/>
              <a:t>za</a:t>
            </a:r>
            <a:r>
              <a:rPr dirty="0"/>
              <a:t> </a:t>
            </a:r>
            <a:r>
              <a:rPr dirty="0" err="1"/>
              <a:t>analizu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err="1"/>
              <a:t>Nedostatak</a:t>
            </a:r>
            <a:r>
              <a:rPr dirty="0"/>
              <a:t> </a:t>
            </a:r>
            <a:r>
              <a:rPr dirty="0" err="1"/>
              <a:t>skalabilnosti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 err="1"/>
              <a:t>Posledice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err="1"/>
              <a:t>Investitori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analitičari</a:t>
            </a:r>
            <a:r>
              <a:rPr dirty="0"/>
              <a:t> ne </a:t>
            </a:r>
            <a:r>
              <a:rPr dirty="0" err="1"/>
              <a:t>mogu</a:t>
            </a:r>
            <a:r>
              <a:rPr dirty="0"/>
              <a:t> </a:t>
            </a:r>
            <a:r>
              <a:rPr dirty="0" err="1"/>
              <a:t>efikasno</a:t>
            </a:r>
            <a:r>
              <a:rPr dirty="0"/>
              <a:t> </a:t>
            </a:r>
            <a:r>
              <a:rPr dirty="0" err="1"/>
              <a:t>pratiti</a:t>
            </a:r>
            <a:r>
              <a:rPr dirty="0"/>
              <a:t> sentiment </a:t>
            </a:r>
            <a:r>
              <a:rPr dirty="0" err="1"/>
              <a:t>kripto</a:t>
            </a:r>
            <a:r>
              <a:rPr dirty="0"/>
              <a:t> </a:t>
            </a:r>
            <a:r>
              <a:rPr dirty="0" err="1"/>
              <a:t>zajednice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err="1"/>
              <a:t>Propuštene</a:t>
            </a:r>
            <a:r>
              <a:rPr dirty="0"/>
              <a:t> </a:t>
            </a:r>
            <a:r>
              <a:rPr dirty="0" err="1"/>
              <a:t>investicione</a:t>
            </a:r>
            <a:r>
              <a:rPr dirty="0"/>
              <a:t> </a:t>
            </a:r>
            <a:r>
              <a:rPr dirty="0" err="1"/>
              <a:t>prilike</a:t>
            </a:r>
            <a:r>
              <a:rPr dirty="0"/>
              <a:t> </a:t>
            </a:r>
            <a:r>
              <a:rPr dirty="0" err="1"/>
              <a:t>zbog</a:t>
            </a:r>
            <a:r>
              <a:rPr dirty="0"/>
              <a:t> </a:t>
            </a:r>
            <a:r>
              <a:rPr dirty="0" err="1"/>
              <a:t>nedostatka</a:t>
            </a:r>
            <a:r>
              <a:rPr dirty="0"/>
              <a:t> </a:t>
            </a:r>
            <a:r>
              <a:rPr dirty="0" err="1"/>
              <a:t>brzih</a:t>
            </a:r>
            <a:r>
              <a:rPr dirty="0"/>
              <a:t> </a:t>
            </a:r>
            <a:r>
              <a:rPr dirty="0" err="1"/>
              <a:t>uvida</a:t>
            </a:r>
            <a:r>
              <a:rPr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Cilj 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t>Automatska Klasifikacija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495E"/>
                </a:solidFill>
              </a:defRPr>
            </a:pPr>
            <a:r>
              <a:t>Razvoj sistema za automatsku klasifikaciju Twitter sentimenta u tri kategorije: pozitivan, negativan i neutralan.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21031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t>Poređenje ML Modela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5176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495E"/>
                </a:solidFill>
              </a:defRPr>
            </a:pPr>
            <a:r>
              <a:t>Implementacija i evaluacija tri različita pristupa: Naive Bayes, SVM i BERT transformer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t>Korelaciona Analiza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5176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495E"/>
                </a:solidFill>
              </a:defRPr>
            </a:pPr>
            <a:r>
              <a:t>Analiza statističke povezanosti između Twitter sentimenta i cene Bitcoin-a.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Sentiment Analiza - Osnove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Definicija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Automatska detekcija subjektivnosti i emocija u tekstualnim podacima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Grana Natural Language Processing (NLP) tehnologije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Klasifikacija teksta u sentiment kategorije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Primena u finansijama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Predviđanje tržišnih trendova na osnovu javnog mišljenja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Analiza sentimenta investitora pre donošenja odluka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Real-time praćenje percepcije brenda i proizvoda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Machine Learning Modeli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25603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C453D"/>
                </a:solidFill>
              </a:defRPr>
            </a:pPr>
            <a:r>
              <a:t>Naive Bayes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• Probabilistički pristup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• TF-IDF vektorizacija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• Brzo treniranje (~10s)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• Dobro za baseline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011680"/>
            <a:ext cx="25603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C453D"/>
                </a:solidFill>
              </a:defRPr>
            </a:pPr>
            <a:r>
              <a:t>SVM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2194560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Support Vector Machine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RBF kernel </a:t>
            </a:r>
            <a:r>
              <a:rPr dirty="0" err="1"/>
              <a:t>funkcija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dirty="0" err="1"/>
              <a:t>Hyperparameter</a:t>
            </a:r>
            <a:r>
              <a:rPr dirty="0"/>
              <a:t> tuning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dirty="0" err="1"/>
              <a:t>Visoka</a:t>
            </a:r>
            <a:r>
              <a:rPr dirty="0"/>
              <a:t> </a:t>
            </a:r>
            <a:r>
              <a:rPr lang="sr-Latn-RS" dirty="0" smtClean="0"/>
              <a:t>preciznost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6309360" y="2011680"/>
            <a:ext cx="2560320" cy="3474720"/>
          </a:xfrm>
          <a:prstGeom prst="rect">
            <a:avLst/>
          </a:prstGeom>
          <a:solidFill>
            <a:srgbClr val="1C453D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Transformer arhitektura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Pre-trained model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Fine-tuning pristup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State-of-the-art rezultati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solidFill>
            <a:srgbClr val="9DD5C8"/>
          </a:solidFill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Dataset i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Bitcoin Twitter Dataset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5,000 tweetova o Bitcoin-u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Ručno anotiran dataset (positive/negative/neutral)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Vremenski period: Januar - Maj 2024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Balansiran dataset po klasama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Text Preprocessing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Uklanjanje URL-ova, mentions (@user) i hashtag-ova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Lowercase transformacija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Tokenizacija (NLTK)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Stop words removal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Lemmatization (WordNetLemmatizer)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Korišćene Tehnologije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Python 3.11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Programski jezik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PyTorch 2.0+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79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Deep learning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Transformers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Hugging Face BERT modeli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scikit-learn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Baseline ML modeli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828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NLTK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1031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Natural Language 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pandas &amp; 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926079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Data manipulation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747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matplotlib &amp; seaborn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49039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Vizualizacije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2976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yfinance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57200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Bitcoin price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Arhitektura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Data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Data Collection → Twitter dataset (5,000 tweets)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Preprocessing → Text cleaning i tokenizacija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Feature Extraction → TF-IDF / BERT embeddings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Model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Train/Test Split → 80% / 20%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Model Training → Naive Bayes, SVM, BERT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Hyperparameter Tuning → GridSearchCV / Manual tuning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Evaluation → Accuracy, Precision, Recall, F1-Score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Analysis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Bitcoin Price Data → yfinance API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Sentiment Scoring → -1 (negative) to +1 (positive)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Statistical Analysis → Pearson &amp; Spearman correlation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Model Training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Training Setup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80/20 Train-Test Split (4,000 / 1,000 tweetova)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5-Fold Cross Validation za sve modele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GPU Acceleration: NVIDIA RTX 4060 (8GB VRAM)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Batch Size: 16 (BERT), Full dataset (NB, SVM)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BERT Fine-Tuning Specifics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Pre-trained model: bert-base-uncased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Learning rate: 2e-5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Epochs: 3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Max sequence length: 128 tokens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Optimizer: AdamW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7665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9377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089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801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Rezultati - Performanse Modela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5709" y="1828800"/>
            <a:ext cx="73770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>
                <a:solidFill>
                  <a:srgbClr val="1C453D"/>
                </a:solidFill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49352" y="1828800"/>
            <a:ext cx="94801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>
                <a:solidFill>
                  <a:srgbClr val="1C453D"/>
                </a:solidFill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5207" y="1828800"/>
            <a:ext cx="91390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>
                <a:solidFill>
                  <a:srgbClr val="1C453D"/>
                </a:solidFill>
              </a:rPr>
              <a:t>F1-Score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5842" y="1828800"/>
            <a:ext cx="133023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>
                <a:solidFill>
                  <a:srgbClr val="1C453D"/>
                </a:solidFill>
              </a:rPr>
              <a:t>Training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Naive Bayes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90.87%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0.8814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~10 sekundi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SVM (RBF)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95.24%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0.9495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~45 sekundi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BERT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94.84%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0.9466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~15 minuta (GPU)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572000"/>
            <a:ext cx="6400800" cy="10972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75488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1C453D"/>
                </a:solidFill>
              </a:defRPr>
            </a:pPr>
            <a:r>
              <a:t>🏆 SVM postigao najbolje rezultate (95.24%), dok je BERT bio drugi sa 94.84%.</a:t>
            </a:r>
            <a:br/>
            <a:r>
              <a:t>Naive Bayes pokazao solidne baseline performanse (90.87%).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Korelaciona Analiza - Metodologija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Sentiment Scoring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Svaki tweet klasifikovan u 3 klase: pozitivan (+1), neutralan (0), negativan (-1)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Dnevni sentiment score = prosek svih tweetova tog dana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Opseg vrednosti: -1.0 (vrlo negativan) do +1.0 (vrlo pozitivan)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Bitcoin Price Data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Preuzeto preko yfinance API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Vremenski period: Januar - Maj 2024 (106 dana)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Metrike: closing price, volume, daily change (%)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Statistička Analiza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Pearson correlation - linearna veza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Spearman correlation - monotona veza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Lag analysis - provera vremenskog kašnjenja (-7 do +7 dana)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P-value &lt; 0.05 za statističku značajnost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Korelaciona Analiza - Rezultati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6766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t>Sentiment vs Price (trenutno)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9456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Pearson: r = 0.094, p = 0.337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2316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34495E"/>
                </a:solidFill>
              </a:defRPr>
            </a:pPr>
            <a:r>
              <a:t>❌ Nije statistički značajno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01752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108960"/>
            <a:ext cx="6766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t>Lag Analysis (6 dana)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83279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Pearson: r = 0.226, p = 0.024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11879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9C12"/>
                </a:solidFill>
              </a:defRPr>
            </a:pPr>
            <a:r>
              <a:t>✅ Statistički značajno!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20624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297679"/>
            <a:ext cx="6766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t>Interpretacija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7200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Cena vodi sentiment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34495E"/>
                </a:solidFill>
              </a:defRPr>
            </a:pPr>
            <a:r>
              <a:t>Sentiment reaguje na cenu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303520"/>
            <a:ext cx="7315200" cy="10972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48640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C453D"/>
                </a:solidFill>
              </a:defRPr>
            </a:pPr>
            <a:r>
              <a:rPr dirty="0"/>
              <a:t>💡 </a:t>
            </a:r>
            <a:r>
              <a:rPr dirty="0" err="1"/>
              <a:t>Ključni</a:t>
            </a:r>
            <a:r>
              <a:rPr dirty="0"/>
              <a:t> </a:t>
            </a:r>
            <a:r>
              <a:rPr dirty="0" err="1"/>
              <a:t>nalaz</a:t>
            </a:r>
            <a:r>
              <a:rPr dirty="0"/>
              <a:t>: Twitter sentiment NE </a:t>
            </a:r>
            <a:r>
              <a:rPr dirty="0" err="1"/>
              <a:t>predviđa</a:t>
            </a:r>
            <a:r>
              <a:rPr dirty="0"/>
              <a:t> Bitcoin </a:t>
            </a:r>
            <a:r>
              <a:rPr dirty="0" err="1"/>
              <a:t>cenu</a:t>
            </a:r>
            <a:r>
              <a:rPr dirty="0"/>
              <a:t>, </a:t>
            </a:r>
            <a:r>
              <a:rPr dirty="0" err="1"/>
              <a:t>već</a:t>
            </a:r>
            <a:r>
              <a:rPr dirty="0"/>
              <a:t> </a:t>
            </a:r>
            <a:r>
              <a:rPr dirty="0" err="1"/>
              <a:t>reaguje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nju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kašnjenjem</a:t>
            </a:r>
            <a:r>
              <a:rPr dirty="0"/>
              <a:t> od ~6 dana. </a:t>
            </a:r>
            <a:r>
              <a:rPr dirty="0" err="1"/>
              <a:t>Korisnici</a:t>
            </a:r>
            <a:r>
              <a:rPr dirty="0"/>
              <a:t> </a:t>
            </a:r>
            <a:r>
              <a:rPr dirty="0" err="1"/>
              <a:t>komentarišu</a:t>
            </a:r>
            <a:r>
              <a:rPr dirty="0"/>
              <a:t> </a:t>
            </a:r>
            <a:r>
              <a:rPr dirty="0" err="1"/>
              <a:t>postojeće</a:t>
            </a:r>
            <a:r>
              <a:rPr dirty="0"/>
              <a:t> </a:t>
            </a:r>
            <a:r>
              <a:rPr dirty="0" err="1"/>
              <a:t>kretanje</a:t>
            </a:r>
            <a:r>
              <a:rPr dirty="0"/>
              <a:t> </a:t>
            </a:r>
            <a:r>
              <a:rPr dirty="0" err="1"/>
              <a:t>cene</a:t>
            </a:r>
            <a:r>
              <a:rPr dirty="0"/>
              <a:t> </a:t>
            </a:r>
            <a:r>
              <a:rPr dirty="0" err="1"/>
              <a:t>umesto</a:t>
            </a:r>
            <a:r>
              <a:rPr dirty="0"/>
              <a:t> da </a:t>
            </a:r>
            <a:r>
              <a:rPr dirty="0" err="1"/>
              <a:t>anticipiraju</a:t>
            </a:r>
            <a:r>
              <a:rPr dirty="0"/>
              <a:t> </a:t>
            </a:r>
            <a:r>
              <a:rPr dirty="0" err="1"/>
              <a:t>buduće</a:t>
            </a:r>
            <a:r>
              <a:rPr dirty="0"/>
              <a:t> </a:t>
            </a:r>
            <a:r>
              <a:rPr dirty="0" err="1"/>
              <a:t>promene</a:t>
            </a:r>
            <a:r>
              <a:rPr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Evaluacija i Metrike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Classification Metrics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Accuracy: Ukupna tačnost klasifikacije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Precision: Tačnost pozitivnih predikcija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Recall: Pokrivenost stvarnih pozitivnih slučajeva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F1-Score: Harmonijska sredina precision i recall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Cross-Validation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5-Fold stratified cross-validation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Omogućava robusnu procenu generalizacije modela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Smanjuje uticaj slučajne podele podataka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Confusion Matrix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Detaljni uvid u greške klasifikacije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Identifikacija problematičnih klasa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BERT: najbolje razlikovanje između klasa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Tehnički Izazovi i Rešenja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Izazovi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Nebalansiran dataset → Data augmentation i weighted loss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Sleng i nestandardan jezik → Ekstenzivni preprocessing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BERT GPU memory → Batch size optimizacija (16)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Overfitting → Dropout (0.3) i early stopping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t>Optimizacije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GPU acceleration (RTX 4060) → 10x brže BERT treniranje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Hyperparameter tuning → GridSearchCV za SVM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Learning rate scheduling → StepLR za BERT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Data caching → Ubrzanje preprocessing-a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t>Zaključak i Budući Pravci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19"/>
            <a:ext cx="7680960" cy="1780861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C453D"/>
                </a:solidFill>
              </a:defRPr>
            </a:pPr>
            <a:r>
              <a:t>Postignuti Rezultati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</a:t>
            </a:r>
            <a:r>
              <a:rPr dirty="0" err="1"/>
              <a:t>Uspešno</a:t>
            </a:r>
            <a:r>
              <a:rPr dirty="0"/>
              <a:t> </a:t>
            </a:r>
            <a:r>
              <a:rPr dirty="0" err="1"/>
              <a:t>implementirana</a:t>
            </a:r>
            <a:r>
              <a:rPr dirty="0"/>
              <a:t> 3 ML </a:t>
            </a:r>
            <a:r>
              <a:rPr dirty="0" err="1"/>
              <a:t>modela</a:t>
            </a:r>
            <a:r>
              <a:rPr dirty="0"/>
              <a:t> (Naive Bayes, SVM, BERT)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SVM </a:t>
            </a:r>
            <a:r>
              <a:rPr dirty="0" err="1"/>
              <a:t>postigao</a:t>
            </a:r>
            <a:r>
              <a:rPr dirty="0"/>
              <a:t> </a:t>
            </a:r>
            <a:r>
              <a:rPr dirty="0" err="1"/>
              <a:t>izvanrednih</a:t>
            </a:r>
            <a:r>
              <a:rPr dirty="0"/>
              <a:t> 95.24% accuracy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BERT </a:t>
            </a:r>
            <a:r>
              <a:rPr dirty="0" err="1"/>
              <a:t>demonstrirao</a:t>
            </a:r>
            <a:r>
              <a:rPr dirty="0"/>
              <a:t> state-of-the-art </a:t>
            </a:r>
            <a:r>
              <a:rPr dirty="0" err="1"/>
              <a:t>performanse</a:t>
            </a:r>
            <a:r>
              <a:rPr dirty="0"/>
              <a:t> (94.84%)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</a:t>
            </a:r>
            <a:r>
              <a:rPr dirty="0" err="1"/>
              <a:t>Korelaciona</a:t>
            </a:r>
            <a:r>
              <a:rPr dirty="0"/>
              <a:t> </a:t>
            </a:r>
            <a:r>
              <a:rPr dirty="0" err="1"/>
              <a:t>analiza</a:t>
            </a:r>
            <a:r>
              <a:rPr dirty="0"/>
              <a:t> </a:t>
            </a:r>
            <a:r>
              <a:rPr dirty="0" err="1"/>
              <a:t>otkrila</a:t>
            </a:r>
            <a:r>
              <a:rPr dirty="0"/>
              <a:t> </a:t>
            </a:r>
            <a:r>
              <a:rPr dirty="0" err="1"/>
              <a:t>statistički</a:t>
            </a:r>
            <a:r>
              <a:rPr dirty="0"/>
              <a:t> </a:t>
            </a:r>
            <a:r>
              <a:rPr dirty="0" err="1"/>
              <a:t>značajnu</a:t>
            </a:r>
            <a:r>
              <a:rPr dirty="0"/>
              <a:t> </a:t>
            </a:r>
            <a:r>
              <a:rPr dirty="0" err="1"/>
              <a:t>vezu</a:t>
            </a:r>
            <a:r>
              <a:rPr dirty="0"/>
              <a:t> (lag 6 dana)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</a:t>
            </a:r>
            <a:r>
              <a:rPr dirty="0" err="1"/>
              <a:t>Pokazano</a:t>
            </a:r>
            <a:r>
              <a:rPr dirty="0"/>
              <a:t> da sentiment </a:t>
            </a:r>
            <a:r>
              <a:rPr dirty="0" err="1"/>
              <a:t>reaguje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cenu</a:t>
            </a:r>
            <a:r>
              <a:rPr dirty="0"/>
              <a:t>, ne </a:t>
            </a:r>
            <a:r>
              <a:rPr dirty="0" err="1"/>
              <a:t>predviđa</a:t>
            </a:r>
            <a:r>
              <a:rPr dirty="0"/>
              <a:t> je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57600"/>
            <a:ext cx="7680960" cy="2286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C453D"/>
                </a:solidFill>
              </a:defRPr>
            </a:pPr>
            <a:r>
              <a:t>Budući Pravci Razvoja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t>🚀 Real-time sentiment tracking dashboard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t>🔍 Proširenje analize na više kriptovaluta (Ethereum, Solana, itd.)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t>🎯 Multimodal analiza (tekst + slike sa Twitter-a)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t>⚡ Optimizacija BERT modela (DistilBERT, lightweight verzije)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t>🌐 Deploy kao REST API za eksterni pristup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t>📊 Integracija sa trading platformama za automatske signale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t>🔬 Eksperimenti sa novim transformer arhitekturama (GPT-4, LLaMA)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5486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Hvala</a:t>
            </a:r>
            <a:r>
              <a:rPr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</a:t>
            </a:r>
            <a:r>
              <a:rPr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na</a:t>
            </a:r>
            <a:r>
              <a:rPr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</a:t>
            </a:r>
            <a:r>
              <a:rPr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pažnji</a:t>
            </a:r>
            <a:r>
              <a:rPr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!</a:t>
            </a:r>
            <a:endParaRPr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47243" y="5029200"/>
            <a:ext cx="384951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DD5C8"/>
                </a:solidFill>
              </a:defRPr>
            </a:pPr>
            <a:r>
              <a:rPr sz="2000" b="1" dirty="0"/>
              <a:t>Boris </a:t>
            </a:r>
            <a:r>
              <a:rPr sz="2000" b="1" dirty="0" err="1"/>
              <a:t>Letić</a:t>
            </a:r>
            <a:r>
              <a:rPr sz="2000" b="1" dirty="0"/>
              <a:t> | RA 207/2021</a:t>
            </a:r>
            <a:br>
              <a:rPr sz="2000" b="1" dirty="0"/>
            </a:br>
            <a:r>
              <a:rPr sz="2000" b="1" dirty="0" err="1"/>
              <a:t>Fakultet</a:t>
            </a:r>
            <a:r>
              <a:rPr sz="2000" b="1" dirty="0"/>
              <a:t> </a:t>
            </a:r>
            <a:r>
              <a:rPr sz="2000" b="1" dirty="0" err="1"/>
              <a:t>tehničkih</a:t>
            </a:r>
            <a:r>
              <a:rPr sz="2000" b="1" dirty="0"/>
              <a:t> </a:t>
            </a:r>
            <a:r>
              <a:rPr sz="2000" b="1" dirty="0" err="1"/>
              <a:t>nauka</a:t>
            </a:r>
            <a:r>
              <a:rPr sz="2000" b="1" dirty="0"/>
              <a:t>, Novi 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84485" y="3719155"/>
            <a:ext cx="21750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Pitanja</a:t>
            </a:r>
            <a:r>
              <a:rPr lang="en-US" sz="4000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?</a:t>
            </a:r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989</Words>
  <Application>Microsoft Office PowerPoint</Application>
  <PresentationFormat>On-screen Show (4:3)</PresentationFormat>
  <Paragraphs>188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Win 11</cp:lastModifiedBy>
  <cp:revision>10</cp:revision>
  <dcterms:created xsi:type="dcterms:W3CDTF">2013-01-27T09:14:16Z</dcterms:created>
  <dcterms:modified xsi:type="dcterms:W3CDTF">2025-11-13T00:07:55Z</dcterms:modified>
  <cp:category/>
</cp:coreProperties>
</file>