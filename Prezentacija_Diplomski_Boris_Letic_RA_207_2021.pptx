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453D"/>
    <a:srgbClr val="9DD5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70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06175" y="1734295"/>
            <a:ext cx="483359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453D"/>
                </a:solidFill>
              </a:defRPr>
            </a:pPr>
            <a:r>
              <a:rPr lang="sr-Cyrl-RS" sz="3200" b="1" dirty="0" smtClean="0"/>
              <a:t>Анализа сентимента крипто заједнице на друштвеним мрежама помоћу машинског учења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3215" y="6158884"/>
            <a:ext cx="290816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4495E"/>
                </a:solidFill>
              </a:defRPr>
            </a:pPr>
            <a:r>
              <a:rPr lang="sr-Cyrl-RS" sz="3200" dirty="0" smtClean="0">
                <a:solidFill>
                  <a:srgbClr val="9DD5C8"/>
                </a:solidFill>
              </a:rPr>
              <a:t>Дипломски рад</a:t>
            </a:r>
            <a:endParaRPr sz="3200" dirty="0">
              <a:solidFill>
                <a:srgbClr val="9DD5C8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06175" y="6112717"/>
            <a:ext cx="2994794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sr-Cyrl-RS" sz="1900" b="1" dirty="0" smtClean="0">
                <a:solidFill>
                  <a:srgbClr val="1C453D"/>
                </a:solidFill>
              </a:rPr>
              <a:t>Универзитет у Новом Саду</a:t>
            </a:r>
            <a:endParaRPr lang="en-US" sz="1900" b="1" dirty="0" smtClean="0">
              <a:solidFill>
                <a:srgbClr val="1C453D"/>
              </a:solidFill>
            </a:endParaRPr>
          </a:p>
          <a:p>
            <a:r>
              <a:rPr lang="sr-Cyrl-RS" sz="1900" b="1" dirty="0" smtClean="0">
                <a:solidFill>
                  <a:srgbClr val="1C453D"/>
                </a:solidFill>
              </a:rPr>
              <a:t>Факултет техничких наука</a:t>
            </a:r>
            <a:endParaRPr sz="1900" b="1" dirty="0">
              <a:solidFill>
                <a:srgbClr val="1C453D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 flipH="1">
            <a:off x="3892858" y="4655058"/>
            <a:ext cx="50158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sz="1900" b="1" dirty="0" smtClean="0">
                <a:solidFill>
                  <a:srgbClr val="1C453D"/>
                </a:solidFill>
              </a:rPr>
              <a:t>Ментор: др Душан Гајић, ванредни професор</a:t>
            </a:r>
            <a:endParaRPr lang="en-US" sz="1900" b="1" dirty="0" smtClean="0">
              <a:solidFill>
                <a:srgbClr val="1C453D"/>
              </a:solidFill>
            </a:endParaRPr>
          </a:p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sz="1900" b="1" dirty="0" smtClean="0">
                <a:solidFill>
                  <a:srgbClr val="1C453D"/>
                </a:solidFill>
              </a:rPr>
              <a:t>Кандидат</a:t>
            </a:r>
            <a:r>
              <a:rPr lang="en-US" sz="1900" b="1" dirty="0" smtClean="0">
                <a:solidFill>
                  <a:srgbClr val="1C453D"/>
                </a:solidFill>
              </a:rPr>
              <a:t>: </a:t>
            </a:r>
            <a:r>
              <a:rPr lang="sr-Cyrl-RS" sz="1900" b="1" dirty="0" smtClean="0">
                <a:solidFill>
                  <a:srgbClr val="1C453D"/>
                </a:solidFill>
              </a:rPr>
              <a:t>Борис Летић </a:t>
            </a:r>
            <a:r>
              <a:rPr lang="en-US" sz="1900" b="1" dirty="0" smtClean="0">
                <a:solidFill>
                  <a:srgbClr val="1C453D"/>
                </a:solidFill>
              </a:rPr>
              <a:t>RA 207/2021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8024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Проблем и мотивација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Традиционални приступ анализи јавног мишљења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Ручна анализа хиљада твитова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немогућа у реалном времену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Субјективност људске интерпретације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Високи трошкови и време потребно за анализу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Недостатак скалабилности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Последице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Инвеститори и аналитичари не могу ефикасно пратити сентимент крипто заједнице</a:t>
            </a:r>
            <a:r>
              <a:rPr dirty="0" smtClean="0"/>
              <a:t>.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Пропуштене инвестиционе прилике због недостатка брзих увида</a:t>
            </a:r>
            <a:r>
              <a:rPr dirty="0" smtClean="0"/>
              <a:t>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21804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Циљ рада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4084" y="1917115"/>
            <a:ext cx="2824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 smtClean="0"/>
              <a:t>Аутоматска класификација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21945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Развој система за аутоматску класификацију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сентимента у три категорије: позитиван, негативан и неутралан.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38328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1925" y="2103120"/>
            <a:ext cx="240303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/>
              <a:t>Поређење </a:t>
            </a:r>
            <a:r>
              <a:rPr lang="en-US" dirty="0" smtClean="0"/>
              <a:t>ML</a:t>
            </a:r>
            <a:r>
              <a:rPr lang="sr-Cyrl-RS" dirty="0" smtClean="0"/>
              <a:t> </a:t>
            </a:r>
            <a:r>
              <a:rPr lang="sr-Cyrl-RS" dirty="0"/>
              <a:t>м</a:t>
            </a:r>
            <a:r>
              <a:rPr lang="sr-Cyrl-RS" dirty="0" smtClean="0"/>
              <a:t>одела</a:t>
            </a:r>
            <a:endParaRPr lang="sr-Cyrl-RS" dirty="0"/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219456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Имплементација и евалуација три различита приступа: </a:t>
            </a:r>
            <a:r>
              <a:rPr lang="en-US" dirty="0" smtClean="0"/>
              <a:t>Naive Bayes</a:t>
            </a:r>
            <a:r>
              <a:rPr lang="ru-RU" dirty="0" smtClean="0"/>
              <a:t>, </a:t>
            </a:r>
            <a:r>
              <a:rPr lang="en-US" dirty="0" smtClean="0"/>
              <a:t>SVM</a:t>
            </a:r>
            <a:r>
              <a:rPr lang="ru-RU" dirty="0" smtClean="0"/>
              <a:t> </a:t>
            </a:r>
            <a:r>
              <a:rPr lang="ru-RU" dirty="0"/>
              <a:t>и </a:t>
            </a:r>
            <a:r>
              <a:rPr lang="en-US" dirty="0" smtClean="0"/>
              <a:t>BERT</a:t>
            </a:r>
            <a:r>
              <a:rPr lang="ru-RU" dirty="0" smtClean="0"/>
              <a:t> </a:t>
            </a:r>
            <a:r>
              <a:rPr lang="ru-RU" dirty="0"/>
              <a:t>трансформер модел.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1404" y="2103120"/>
            <a:ext cx="239623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21945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Анализа статистичке повезаности између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сентимента и цене </a:t>
            </a:r>
            <a:r>
              <a:rPr lang="en-US" dirty="0" smtClean="0"/>
              <a:t>Bitcoin</a:t>
            </a:r>
            <a:r>
              <a:rPr lang="ru-RU" dirty="0" smtClean="0"/>
              <a:t>-а</a:t>
            </a:r>
            <a:r>
              <a:rPr lang="ru-RU" dirty="0"/>
              <a:t>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05806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Анализа сентимента - основе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Дефиниција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Аутоматска детекција субјективности и емоција у текстуалним подацима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Грана </a:t>
            </a:r>
            <a:r>
              <a:rPr lang="en-US" dirty="0" smtClean="0"/>
              <a:t>Natural Language Processing </a:t>
            </a:r>
            <a:r>
              <a:rPr lang="ru-RU" dirty="0" smtClean="0"/>
              <a:t>(</a:t>
            </a:r>
            <a:r>
              <a:rPr lang="en-US" dirty="0" smtClean="0"/>
              <a:t>NLP</a:t>
            </a:r>
            <a:r>
              <a:rPr lang="ru-RU" dirty="0" smtClean="0"/>
              <a:t>) </a:t>
            </a:r>
            <a:r>
              <a:rPr lang="ru-RU" dirty="0"/>
              <a:t>технологије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Класификација текста у сентимент категорије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Примена у финансијама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Предвиђање тржишних трендова на основу јавног мишљења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Анализа сентимента инвеститора пре доношења одлука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en-US" dirty="0" smtClean="0"/>
              <a:t>Real-Time</a:t>
            </a:r>
            <a:r>
              <a:rPr lang="ru-RU" dirty="0" smtClean="0"/>
              <a:t> </a:t>
            </a:r>
            <a:r>
              <a:rPr lang="ru-RU" dirty="0"/>
              <a:t>праћење перцепције бренда и производа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53690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Модели машинског учења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Naive Bayes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Пробабилистички приступ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TF-IDF </a:t>
            </a:r>
            <a:r>
              <a:rPr lang="sr-Cyrl-RS" dirty="0" smtClean="0"/>
              <a:t>векторизација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Брзо тренирање </a:t>
            </a:r>
            <a:r>
              <a:rPr dirty="0" smtClean="0"/>
              <a:t>(~10</a:t>
            </a:r>
            <a:r>
              <a:rPr lang="sr-Cyrl-RS" dirty="0" smtClean="0"/>
              <a:t>с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Добро за </a:t>
            </a:r>
            <a:r>
              <a:rPr dirty="0" smtClean="0"/>
              <a:t>baseline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38328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SVM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Support Vector Machine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RBF kernel </a:t>
            </a:r>
            <a:r>
              <a:rPr lang="sr-Cyrl-RS" dirty="0" smtClean="0"/>
              <a:t>функција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dirty="0" err="1"/>
              <a:t>Hyperparameter</a:t>
            </a:r>
            <a:r>
              <a:rPr dirty="0"/>
              <a:t> tuning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Висока прецизност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2011680"/>
            <a:ext cx="2560320" cy="3474720"/>
          </a:xfrm>
          <a:prstGeom prst="rect">
            <a:avLst/>
          </a:prstGeom>
          <a:solidFill>
            <a:srgbClr val="1C453D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Transformer </a:t>
            </a:r>
            <a:r>
              <a:rPr lang="sr-Cyrl-RS" dirty="0" smtClean="0"/>
              <a:t>архитектура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Pre-trained </a:t>
            </a:r>
            <a:r>
              <a:rPr lang="sr-Cyrl-RS" dirty="0" smtClean="0"/>
              <a:t>модел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Fine-tuning </a:t>
            </a:r>
            <a:r>
              <a:rPr lang="sr-Cyrl-RS" dirty="0" smtClean="0"/>
              <a:t>приступ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State-of-the-art </a:t>
            </a:r>
            <a:r>
              <a:rPr lang="sr-Cyrl-RS" dirty="0" smtClean="0"/>
              <a:t>резултати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789773" cy="646331"/>
          </a:xfrm>
          <a:prstGeom prst="rect">
            <a:avLst/>
          </a:prstGeom>
          <a:solidFill>
            <a:srgbClr val="9DD5C8"/>
          </a:solidFill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dirty="0"/>
              <a:t>Dataset </a:t>
            </a:r>
            <a:r>
              <a:rPr lang="sr-Cyrl-RS" dirty="0" smtClean="0"/>
              <a:t>и</a:t>
            </a:r>
            <a:r>
              <a:rPr dirty="0" smtClean="0"/>
              <a:t> </a:t>
            </a:r>
            <a:r>
              <a:rPr dirty="0"/>
              <a:t>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Bitcoin Twitter Dataset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5,000 </a:t>
            </a:r>
            <a:r>
              <a:rPr lang="sr-Cyrl-RS" dirty="0" smtClean="0"/>
              <a:t>твитова о </a:t>
            </a:r>
            <a:r>
              <a:rPr dirty="0" smtClean="0"/>
              <a:t>Bitcoin-</a:t>
            </a:r>
            <a:r>
              <a:rPr lang="sr-Cyrl-RS" dirty="0" smtClean="0"/>
              <a:t>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Ручно анотиран </a:t>
            </a:r>
            <a:r>
              <a:rPr dirty="0" smtClean="0"/>
              <a:t>dataset </a:t>
            </a:r>
            <a:r>
              <a:rPr dirty="0"/>
              <a:t>(positive/negative/neutral)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Временски период</a:t>
            </a:r>
            <a:r>
              <a:rPr dirty="0" smtClean="0"/>
              <a:t>: </a:t>
            </a:r>
            <a:r>
              <a:rPr lang="sr-Cyrl-RS" dirty="0" smtClean="0"/>
              <a:t>Јануар</a:t>
            </a:r>
            <a:r>
              <a:rPr dirty="0" smtClean="0"/>
              <a:t> </a:t>
            </a:r>
            <a:r>
              <a:rPr dirty="0"/>
              <a:t>- </a:t>
            </a:r>
            <a:r>
              <a:rPr lang="sr-Cyrl-RS" dirty="0" smtClean="0"/>
              <a:t>Мај</a:t>
            </a:r>
            <a:r>
              <a:rPr dirty="0" smtClean="0"/>
              <a:t> </a:t>
            </a:r>
            <a:r>
              <a:rPr dirty="0"/>
              <a:t>2024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Балансиран</a:t>
            </a:r>
            <a:r>
              <a:rPr dirty="0" smtClean="0"/>
              <a:t> </a:t>
            </a:r>
            <a:r>
              <a:rPr dirty="0"/>
              <a:t>dataset </a:t>
            </a:r>
            <a:r>
              <a:rPr lang="sr-Cyrl-RS" dirty="0" smtClean="0"/>
              <a:t>по класама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Text Preprocessing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Уклањање</a:t>
            </a:r>
            <a:r>
              <a:rPr dirty="0" smtClean="0"/>
              <a:t> URL-</a:t>
            </a:r>
            <a:r>
              <a:rPr lang="sr-Cyrl-RS" dirty="0" smtClean="0"/>
              <a:t>ова</a:t>
            </a:r>
            <a:r>
              <a:rPr dirty="0" smtClean="0"/>
              <a:t>, </a:t>
            </a:r>
            <a:r>
              <a:rPr dirty="0"/>
              <a:t>mentions (@user) </a:t>
            </a:r>
            <a:r>
              <a:rPr lang="sr-Cyrl-RS" dirty="0" smtClean="0"/>
              <a:t>и</a:t>
            </a:r>
            <a:r>
              <a:rPr dirty="0" smtClean="0"/>
              <a:t> hashtag-</a:t>
            </a:r>
            <a:r>
              <a:rPr lang="sr-Cyrl-RS" dirty="0" smtClean="0"/>
              <a:t>ова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Lowercase </a:t>
            </a:r>
            <a:r>
              <a:rPr lang="sr-Cyrl-RS" dirty="0" smtClean="0"/>
              <a:t>трансформација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Токенизација</a:t>
            </a:r>
            <a:r>
              <a:rPr dirty="0" smtClean="0"/>
              <a:t> </a:t>
            </a:r>
            <a:r>
              <a:rPr dirty="0"/>
              <a:t>(NLTK)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Stop words removal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Lemmatization (</a:t>
            </a:r>
            <a:r>
              <a:rPr dirty="0" err="1"/>
              <a:t>WordNetLemmatizer</a:t>
            </a:r>
            <a:r>
              <a:rPr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98873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Коришћене технологије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rPr dirty="0"/>
              <a:t>Python 3.11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537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Програмски језик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PyTorch 2.0+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7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Deep learning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Transformers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218995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Hugging Face BERT </a:t>
            </a:r>
            <a:r>
              <a:rPr lang="sr-Cyrl-RS" dirty="0" smtClean="0"/>
              <a:t>модели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scikit-learn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169309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Baseline ML </a:t>
            </a:r>
            <a:r>
              <a:rPr lang="sr-Cyrl-RS" dirty="0" smtClean="0"/>
              <a:t>модели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50292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NLTK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1031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Natural Language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pandas &amp; 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92607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Data manipulation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matplotlib &amp; seaborn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49039"/>
            <a:ext cx="13026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Визуализације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0292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yfinance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57200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Bitcoin price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39710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Архитектура система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Data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Data Collection → Twitter dataset (5,000 </a:t>
            </a:r>
            <a:r>
              <a:rPr lang="sr-Cyrl-RS" dirty="0" smtClean="0"/>
              <a:t>твитова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Preprocessing → Text cleaning </a:t>
            </a:r>
            <a:r>
              <a:rPr lang="sr-Cyrl-RS" dirty="0" smtClean="0"/>
              <a:t>и токенизација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Feature Extraction → TF-IDF / BERT </a:t>
            </a:r>
            <a:r>
              <a:rPr dirty="0" err="1"/>
              <a:t>embeddings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Model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Train/Test Split → 80% / 20%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Model Training → Naive Bayes, SVM, 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Hyperparameter</a:t>
            </a:r>
            <a:r>
              <a:rPr dirty="0"/>
              <a:t> Tuning → </a:t>
            </a:r>
            <a:r>
              <a:rPr dirty="0" err="1"/>
              <a:t>GridSearchCV</a:t>
            </a:r>
            <a:r>
              <a:rPr dirty="0"/>
              <a:t> / Manual tuning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Evaluation → Accuracy, Precision, Recall, F1-Score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Analysis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Bitcoin Price Data → </a:t>
            </a:r>
            <a:r>
              <a:rPr dirty="0" err="1"/>
              <a:t>yfinance</a:t>
            </a:r>
            <a:r>
              <a:rPr dirty="0"/>
              <a:t> 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Sentiment Scoring → -1 (negative)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+1 (positive)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Statistical Analysis → Pearson &amp; Spearman correlation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62750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Процес тренирања модела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Training Setup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80/20 Train-Test Split (4,000 / 1,000 </a:t>
            </a:r>
            <a:r>
              <a:rPr lang="sr-Cyrl-RS" dirty="0" smtClean="0"/>
              <a:t>твитова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5-Fold Cross Validation </a:t>
            </a:r>
            <a:r>
              <a:rPr lang="sr-Cyrl-RS" dirty="0" smtClean="0"/>
              <a:t>за све моделе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GPU Acceleration: NVIDIA RTX 4060 (8GB VRAM)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Batch Size: 16 (BERT), Full dataset (NB, SVM)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BERT Fine-Tuning </a:t>
            </a:r>
            <a:r>
              <a:rPr lang="sr-Cyrl-RS" dirty="0" smtClean="0"/>
              <a:t>специфичности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Pre-trained model: </a:t>
            </a:r>
            <a:r>
              <a:rPr dirty="0" err="1"/>
              <a:t>bert</a:t>
            </a:r>
            <a:r>
              <a:rPr dirty="0"/>
              <a:t>-base-uncased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Learning rate: 2e-5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Epochs: 3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Max sequence length: 128 tokens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Optimizer: </a:t>
            </a:r>
            <a:r>
              <a:rPr dirty="0" err="1"/>
              <a:t>AdamW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7665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9377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89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801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9762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Резултати – перформансе модела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797144" y="1828800"/>
            <a:ext cx="79483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Модел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591252" y="1828800"/>
            <a:ext cx="86421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Тачност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5207" y="1828800"/>
            <a:ext cx="91390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rgbClr val="1C453D"/>
                </a:solidFill>
              </a:rPr>
              <a:t>F1-Score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9852" y="1828800"/>
            <a:ext cx="180222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Време тренирања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716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Naive Bayes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90.87%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0.8814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887" y="2468880"/>
            <a:ext cx="1188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~10 </a:t>
            </a:r>
            <a:r>
              <a:rPr lang="sr-Cyrl-RS" dirty="0" smtClean="0"/>
              <a:t>секунди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SVM (RBF)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95.24%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887" y="3108960"/>
            <a:ext cx="1188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~45 </a:t>
            </a:r>
            <a:r>
              <a:rPr lang="sr-Cyrl-RS" dirty="0" smtClean="0"/>
              <a:t>секунди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13716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BERT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94.84%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5291" y="3749040"/>
            <a:ext cx="161133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~15 </a:t>
            </a:r>
            <a:r>
              <a:rPr lang="sr-Cyrl-RS" dirty="0" smtClean="0"/>
              <a:t>минута</a:t>
            </a:r>
            <a:r>
              <a:rPr dirty="0" smtClean="0"/>
              <a:t> </a:t>
            </a:r>
            <a:r>
              <a:rPr dirty="0"/>
              <a:t>(GPU)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572000"/>
            <a:ext cx="64008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4859030"/>
            <a:ext cx="6217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1C453D"/>
                </a:solidFill>
              </a:defRPr>
            </a:pPr>
            <a:r>
              <a:rPr dirty="0" smtClean="0"/>
              <a:t>SVM </a:t>
            </a:r>
            <a:r>
              <a:rPr lang="sr-Cyrl-RS" dirty="0" smtClean="0"/>
              <a:t>постигао најбоље резултате </a:t>
            </a:r>
            <a:r>
              <a:rPr dirty="0" smtClean="0"/>
              <a:t>(95.24</a:t>
            </a:r>
            <a:r>
              <a:rPr dirty="0"/>
              <a:t>%), </a:t>
            </a:r>
            <a:r>
              <a:rPr lang="sr-Cyrl-RS" dirty="0" smtClean="0"/>
              <a:t>док је </a:t>
            </a:r>
            <a:r>
              <a:rPr dirty="0" smtClean="0"/>
              <a:t>BERT </a:t>
            </a:r>
            <a:r>
              <a:rPr lang="sr-Cyrl-RS" dirty="0" smtClean="0"/>
              <a:t>био други са </a:t>
            </a:r>
            <a:r>
              <a:rPr dirty="0" smtClean="0"/>
              <a:t>94.84</a:t>
            </a:r>
            <a:r>
              <a:rPr dirty="0"/>
              <a:t>%.</a:t>
            </a:r>
            <a:br>
              <a:rPr dirty="0"/>
            </a:br>
            <a:r>
              <a:rPr dirty="0"/>
              <a:t>Naive Bayes </a:t>
            </a:r>
            <a:r>
              <a:rPr lang="sr-Cyrl-RS" dirty="0" smtClean="0"/>
              <a:t>показао солидне </a:t>
            </a:r>
            <a:r>
              <a:rPr dirty="0" smtClean="0"/>
              <a:t>baseline </a:t>
            </a:r>
            <a:r>
              <a:rPr lang="sr-Cyrl-RS" dirty="0" smtClean="0"/>
              <a:t>перформансе</a:t>
            </a:r>
            <a:r>
              <a:rPr dirty="0" smtClean="0"/>
              <a:t> </a:t>
            </a:r>
            <a:r>
              <a:rPr dirty="0"/>
              <a:t>(90.87%).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769197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 </a:t>
            </a:r>
            <a:r>
              <a:rPr dirty="0" smtClean="0"/>
              <a:t>- </a:t>
            </a:r>
            <a:r>
              <a:rPr lang="sr-Cyrl-RS" dirty="0" smtClean="0"/>
              <a:t>методологија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Sentiment Scoring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Сваки твит класификован у 3 класе</a:t>
            </a:r>
            <a:r>
              <a:rPr dirty="0" smtClean="0"/>
              <a:t>: </a:t>
            </a:r>
            <a:r>
              <a:rPr lang="sr-Cyrl-RS" dirty="0" smtClean="0"/>
              <a:t>позитиван</a:t>
            </a:r>
            <a:r>
              <a:rPr dirty="0" smtClean="0"/>
              <a:t> </a:t>
            </a:r>
            <a:r>
              <a:rPr dirty="0"/>
              <a:t>(+1), </a:t>
            </a:r>
            <a:r>
              <a:rPr lang="sr-Cyrl-RS" dirty="0" smtClean="0"/>
              <a:t>неутралан</a:t>
            </a:r>
            <a:r>
              <a:rPr dirty="0" smtClean="0"/>
              <a:t> </a:t>
            </a:r>
            <a:r>
              <a:rPr dirty="0"/>
              <a:t>(0), </a:t>
            </a:r>
            <a:r>
              <a:rPr lang="sr-Cyrl-RS" dirty="0" smtClean="0"/>
              <a:t>негативан</a:t>
            </a:r>
            <a:r>
              <a:rPr dirty="0" smtClean="0"/>
              <a:t> </a:t>
            </a:r>
            <a:r>
              <a:rPr dirty="0"/>
              <a:t>(-1)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Дневни</a:t>
            </a:r>
            <a:r>
              <a:rPr dirty="0" smtClean="0"/>
              <a:t> </a:t>
            </a:r>
            <a:r>
              <a:rPr dirty="0"/>
              <a:t>sentiment score = </a:t>
            </a:r>
            <a:r>
              <a:rPr lang="sr-Cyrl-RS" dirty="0" smtClean="0"/>
              <a:t>просек свих твитова тог дана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Опсег вредности</a:t>
            </a:r>
            <a:r>
              <a:rPr dirty="0" smtClean="0"/>
              <a:t>: </a:t>
            </a:r>
            <a:r>
              <a:rPr dirty="0"/>
              <a:t>-1.0 </a:t>
            </a:r>
            <a:r>
              <a:rPr dirty="0" smtClean="0"/>
              <a:t>(</a:t>
            </a:r>
            <a:r>
              <a:rPr lang="sr-Cyrl-RS" dirty="0" smtClean="0"/>
              <a:t>врло негативан</a:t>
            </a:r>
            <a:r>
              <a:rPr dirty="0" smtClean="0"/>
              <a:t>)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+1.0 </a:t>
            </a:r>
            <a:r>
              <a:rPr dirty="0" smtClean="0"/>
              <a:t>(</a:t>
            </a:r>
            <a:r>
              <a:rPr lang="sr-Cyrl-RS" dirty="0" smtClean="0"/>
              <a:t>врло позитиван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Bitcoin Price Data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Преузето преко </a:t>
            </a:r>
            <a:r>
              <a:rPr dirty="0" err="1" smtClean="0"/>
              <a:t>yfinance</a:t>
            </a:r>
            <a:r>
              <a:rPr dirty="0" smtClean="0"/>
              <a:t> </a:t>
            </a:r>
            <a:r>
              <a:rPr dirty="0"/>
              <a:t>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Временски период</a:t>
            </a:r>
            <a:r>
              <a:rPr dirty="0" smtClean="0"/>
              <a:t>: </a:t>
            </a:r>
            <a:r>
              <a:rPr lang="sr-Cyrl-RS" dirty="0" smtClean="0"/>
              <a:t>Јануар</a:t>
            </a:r>
            <a:r>
              <a:rPr dirty="0" smtClean="0"/>
              <a:t> </a:t>
            </a:r>
            <a:r>
              <a:rPr dirty="0"/>
              <a:t>- </a:t>
            </a:r>
            <a:r>
              <a:rPr lang="sr-Cyrl-RS" dirty="0" smtClean="0"/>
              <a:t>Мај</a:t>
            </a:r>
            <a:r>
              <a:rPr dirty="0" smtClean="0"/>
              <a:t> </a:t>
            </a:r>
            <a:r>
              <a:rPr dirty="0"/>
              <a:t>2024 (106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Метрике</a:t>
            </a:r>
            <a:r>
              <a:rPr dirty="0" smtClean="0"/>
              <a:t>: </a:t>
            </a:r>
            <a:r>
              <a:rPr dirty="0"/>
              <a:t>closing price, volume, daily change (%)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Статистичка анализа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Pearson correlation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линеарна веза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Spearman correlation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монотона веза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Lag analysis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провера временског кашњења </a:t>
            </a:r>
            <a:r>
              <a:rPr dirty="0" smtClean="0"/>
              <a:t>(-</a:t>
            </a:r>
            <a:r>
              <a:rPr dirty="0"/>
              <a:t>7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+7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P-value &lt; 0.05 </a:t>
            </a:r>
            <a:r>
              <a:rPr lang="sr-Cyrl-RS" dirty="0" smtClean="0"/>
              <a:t>за статистичку значајност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91849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 - резултати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273703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dirty="0"/>
              <a:t>Sentiment vs Price </a:t>
            </a:r>
            <a:r>
              <a:rPr dirty="0" smtClean="0"/>
              <a:t>(</a:t>
            </a:r>
            <a:r>
              <a:rPr lang="sr-Cyrl-RS" dirty="0" smtClean="0"/>
              <a:t>тренутно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88720" y="219456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Pearson: r = 0.094, p = 0.337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23160"/>
            <a:ext cx="223920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rPr dirty="0"/>
              <a:t>❌ </a:t>
            </a:r>
            <a:r>
              <a:rPr lang="sr-Cyrl-RS" dirty="0" smtClean="0"/>
              <a:t>Није статистички значајно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19723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dirty="0"/>
              <a:t>Lag Analysis (6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88720" y="3383279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Pearson: r = 0.226, p = 0.024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79"/>
            <a:ext cx="199387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9C12"/>
                </a:solidFill>
              </a:defRPr>
            </a:pPr>
            <a:r>
              <a:rPr dirty="0"/>
              <a:t>✅ </a:t>
            </a:r>
            <a:r>
              <a:rPr lang="sr-Cyrl-RS" dirty="0" smtClean="0"/>
              <a:t>Статистички значајно!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79"/>
            <a:ext cx="16079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lang="sr-Cyrl-RS" dirty="0" smtClean="0"/>
              <a:t>Интерпретација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188720" y="4572000"/>
            <a:ext cx="18309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Цена води сентимент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20794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rPr lang="sr-Cyrl-RS" dirty="0" smtClean="0"/>
              <a:t>Сентимент реагује на цену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73152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486400"/>
            <a:ext cx="67665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C453D"/>
                </a:solidFill>
              </a:defRPr>
            </a:pPr>
            <a:r>
              <a:rPr lang="ru-RU" dirty="0" smtClean="0"/>
              <a:t>Кључни </a:t>
            </a:r>
            <a:r>
              <a:rPr lang="ru-RU" dirty="0"/>
              <a:t>налаз: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 НЕ предвиђа </a:t>
            </a:r>
            <a:r>
              <a:rPr lang="en-US" dirty="0" smtClean="0"/>
              <a:t>Bitcoin</a:t>
            </a:r>
            <a:r>
              <a:rPr lang="ru-RU" dirty="0" smtClean="0"/>
              <a:t> </a:t>
            </a:r>
            <a:r>
              <a:rPr lang="ru-RU" dirty="0"/>
              <a:t>цену, већ реагује на њу са кашњењем од ~6 дана. Корисници коментаришу постојеће кретање цене уместо да антиципирају будуће промене.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57650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Евалуација и метрике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Classification Metrics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Accuracy: </a:t>
            </a:r>
            <a:r>
              <a:rPr lang="sr-Cyrl-RS" dirty="0" smtClean="0"/>
              <a:t>Укупна тачност класификације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Precision: </a:t>
            </a:r>
            <a:r>
              <a:rPr lang="sr-Cyrl-RS" dirty="0" smtClean="0"/>
              <a:t>Тачност позитивних предикција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Recall: </a:t>
            </a:r>
            <a:r>
              <a:rPr lang="sr-Cyrl-RS" dirty="0"/>
              <a:t>Покривеност стварних позитивних </a:t>
            </a:r>
            <a:r>
              <a:rPr lang="sr-Cyrl-RS" dirty="0" smtClean="0"/>
              <a:t>случајева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smtClean="0"/>
              <a:t>F1-Score: </a:t>
            </a:r>
            <a:r>
              <a:rPr lang="sr-Cyrl-RS" dirty="0" smtClean="0"/>
              <a:t>Хармонијска средина </a:t>
            </a:r>
            <a:r>
              <a:rPr dirty="0" smtClean="0"/>
              <a:t>precision </a:t>
            </a:r>
            <a:r>
              <a:rPr lang="sr-Cyrl-RS" dirty="0" err="1"/>
              <a:t>и</a:t>
            </a:r>
            <a:r>
              <a:rPr dirty="0" smtClean="0"/>
              <a:t> recall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 smtClean="0"/>
              <a:t>Cross-Validation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5-Fold stratified cross-validation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Омогућава робусну процену генерализације модела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Смањује утицај случајне поделе података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 smtClean="0"/>
              <a:t>Confusion </a:t>
            </a:r>
            <a:r>
              <a:rPr dirty="0"/>
              <a:t>Matrix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Детаљни увид у грешке класификације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Идентификација проблематичних класа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smtClean="0"/>
              <a:t>BERT</a:t>
            </a:r>
            <a:r>
              <a:rPr dirty="0"/>
              <a:t>: </a:t>
            </a:r>
            <a:r>
              <a:rPr lang="sr-Cyrl-RS" dirty="0"/>
              <a:t>најбоље разликовање између класа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87596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Технички изазови и решења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53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Изазови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Небалансиран</a:t>
            </a:r>
            <a:r>
              <a:rPr dirty="0" smtClean="0"/>
              <a:t> </a:t>
            </a:r>
            <a:r>
              <a:rPr dirty="0"/>
              <a:t>dataset → Data augmentation </a:t>
            </a:r>
            <a:r>
              <a:rPr lang="sr-Cyrl-RS" dirty="0" err="1" smtClean="0"/>
              <a:t>и</a:t>
            </a:r>
            <a:r>
              <a:rPr dirty="0" smtClean="0"/>
              <a:t> </a:t>
            </a:r>
            <a:r>
              <a:rPr dirty="0"/>
              <a:t>weighted loss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Сленг и нестандардан језик </a:t>
            </a:r>
            <a:r>
              <a:rPr dirty="0" smtClean="0"/>
              <a:t>→ </a:t>
            </a:r>
            <a:r>
              <a:rPr lang="sr-Cyrl-RS" dirty="0" smtClean="0"/>
              <a:t>Екстензивни</a:t>
            </a:r>
            <a:r>
              <a:rPr dirty="0" smtClean="0"/>
              <a:t> </a:t>
            </a:r>
            <a:r>
              <a:rPr dirty="0"/>
              <a:t>preprocessing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BERT GPU memory → Batch size </a:t>
            </a:r>
            <a:r>
              <a:rPr lang="sr-Cyrl-RS" dirty="0" smtClean="0"/>
              <a:t>оптимизација</a:t>
            </a:r>
            <a:r>
              <a:rPr dirty="0" smtClean="0"/>
              <a:t> </a:t>
            </a:r>
            <a:r>
              <a:rPr dirty="0"/>
              <a:t>(16)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Overfitting → Dropout (0.3) </a:t>
            </a:r>
            <a:r>
              <a:rPr lang="sr-Cyrl-RS" dirty="0" err="1" smtClean="0"/>
              <a:t>и</a:t>
            </a:r>
            <a:r>
              <a:rPr dirty="0" smtClean="0"/>
              <a:t> </a:t>
            </a:r>
            <a:r>
              <a:rPr dirty="0"/>
              <a:t>early stopping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Оптимизације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GPU acceleration (RTX 4060) → 10x </a:t>
            </a:r>
            <a:r>
              <a:rPr lang="sr-Cyrl-RS" dirty="0" smtClean="0"/>
              <a:t>брже</a:t>
            </a:r>
            <a:r>
              <a:rPr dirty="0" smtClean="0"/>
              <a:t> </a:t>
            </a:r>
            <a:r>
              <a:rPr dirty="0"/>
              <a:t>BERT </a:t>
            </a:r>
            <a:r>
              <a:rPr lang="sr-Cyrl-RS" dirty="0" smtClean="0"/>
              <a:t>тренирање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Hyperparameter</a:t>
            </a:r>
            <a:r>
              <a:rPr dirty="0"/>
              <a:t> tuning → </a:t>
            </a:r>
            <a:r>
              <a:rPr dirty="0" err="1"/>
              <a:t>GridSearchCV</a:t>
            </a:r>
            <a:r>
              <a:rPr dirty="0"/>
              <a:t> </a:t>
            </a:r>
            <a:r>
              <a:rPr lang="sr-Cyrl-RS" dirty="0" smtClean="0"/>
              <a:t>за</a:t>
            </a:r>
            <a:r>
              <a:rPr dirty="0" smtClean="0"/>
              <a:t> </a:t>
            </a:r>
            <a:r>
              <a:rPr dirty="0"/>
              <a:t>SVM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Learning rate scheduling → </a:t>
            </a:r>
            <a:r>
              <a:rPr dirty="0" err="1"/>
              <a:t>StepLR</a:t>
            </a:r>
            <a:r>
              <a:rPr dirty="0"/>
              <a:t> </a:t>
            </a:r>
            <a:r>
              <a:rPr lang="sr-Cyrl-RS" dirty="0" smtClean="0"/>
              <a:t>за</a:t>
            </a:r>
            <a:r>
              <a:rPr dirty="0" smtClean="0"/>
              <a:t> </a:t>
            </a:r>
            <a:r>
              <a:rPr dirty="0"/>
              <a:t>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Data caching → </a:t>
            </a:r>
            <a:r>
              <a:rPr lang="sr-Cyrl-RS" dirty="0" smtClean="0"/>
              <a:t>Убрзање</a:t>
            </a:r>
            <a:r>
              <a:rPr dirty="0" smtClean="0"/>
              <a:t> preprocessing-</a:t>
            </a:r>
            <a:r>
              <a:rPr lang="sr-Cyrl-RS" dirty="0" smtClean="0"/>
              <a:t>а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57716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Закључак и будући правци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731520" y="1645919"/>
            <a:ext cx="7680960" cy="1780861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57634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rPr lang="sr-Cyrl-RS" dirty="0" smtClean="0"/>
              <a:t>Постигнути резултати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7315200" cy="129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 smtClean="0"/>
              <a:t> </a:t>
            </a:r>
            <a:r>
              <a:rPr lang="sr-Cyrl-RS" dirty="0" smtClean="0"/>
              <a:t>Успешно имплементирана </a:t>
            </a:r>
            <a:r>
              <a:rPr dirty="0" smtClean="0"/>
              <a:t>3 </a:t>
            </a:r>
            <a:r>
              <a:rPr dirty="0"/>
              <a:t>ML </a:t>
            </a:r>
            <a:r>
              <a:rPr lang="sr-Cyrl-RS" dirty="0" smtClean="0"/>
              <a:t>модела</a:t>
            </a:r>
            <a:r>
              <a:rPr dirty="0" smtClean="0"/>
              <a:t> </a:t>
            </a:r>
            <a:r>
              <a:rPr dirty="0"/>
              <a:t>(Naive Bayes, SVM, BERT</a:t>
            </a:r>
            <a:r>
              <a:rPr dirty="0" smtClean="0"/>
              <a:t>)</a:t>
            </a:r>
            <a:endParaRPr lang="sr-Cyrl-RS" dirty="0" smtClean="0"/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 smtClean="0"/>
              <a:t> </a:t>
            </a:r>
            <a:r>
              <a:rPr dirty="0"/>
              <a:t>SVM </a:t>
            </a:r>
            <a:r>
              <a:rPr lang="sr-Cyrl-RS" dirty="0" smtClean="0"/>
              <a:t>постигао</a:t>
            </a:r>
            <a:r>
              <a:rPr dirty="0" smtClean="0"/>
              <a:t> </a:t>
            </a:r>
            <a:r>
              <a:rPr lang="sr-Cyrl-RS" dirty="0" smtClean="0"/>
              <a:t>изванредну тачност од</a:t>
            </a:r>
            <a:r>
              <a:rPr dirty="0" smtClean="0"/>
              <a:t> </a:t>
            </a:r>
            <a:r>
              <a:rPr dirty="0"/>
              <a:t>95.24</a:t>
            </a:r>
            <a:r>
              <a:rPr dirty="0" smtClean="0"/>
              <a:t>%</a:t>
            </a:r>
            <a:endParaRPr dirty="0"/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 smtClean="0"/>
              <a:t> </a:t>
            </a:r>
            <a:r>
              <a:rPr dirty="0"/>
              <a:t>BERT </a:t>
            </a:r>
            <a:r>
              <a:rPr lang="sr-Cyrl-RS" dirty="0" smtClean="0"/>
              <a:t>демонстрирао</a:t>
            </a:r>
            <a:r>
              <a:rPr dirty="0" smtClean="0"/>
              <a:t> </a:t>
            </a:r>
            <a:r>
              <a:rPr dirty="0"/>
              <a:t>state-of-the-art </a:t>
            </a:r>
            <a:r>
              <a:rPr lang="sr-Cyrl-RS" dirty="0" smtClean="0"/>
              <a:t>перформансе</a:t>
            </a:r>
            <a:r>
              <a:rPr dirty="0" smtClean="0"/>
              <a:t> </a:t>
            </a:r>
            <a:r>
              <a:rPr dirty="0"/>
              <a:t>(94.84%)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 smtClean="0"/>
              <a:t> </a:t>
            </a:r>
            <a:r>
              <a:rPr lang="ru-RU" dirty="0"/>
              <a:t>Корелациона анализа открила статистички значајну везу </a:t>
            </a:r>
            <a:r>
              <a:rPr dirty="0" smtClean="0"/>
              <a:t>(</a:t>
            </a:r>
            <a:r>
              <a:rPr dirty="0"/>
              <a:t>lag 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 smtClean="0"/>
              <a:t> </a:t>
            </a:r>
            <a:r>
              <a:rPr lang="ru-RU" dirty="0"/>
              <a:t>Показано да сентимент реагује на цену, не предвиђа је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7680960" cy="2286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7477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rPr lang="sr-Cyrl-RS" dirty="0" smtClean="0"/>
              <a:t>Будући правци развоја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731520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 </a:t>
            </a:r>
            <a:r>
              <a:rPr dirty="0"/>
              <a:t>Real-time sentiment tracking dashboard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 </a:t>
            </a:r>
            <a:r>
              <a:rPr lang="ru-RU" dirty="0"/>
              <a:t>Проширење анализе на више криптовалута </a:t>
            </a:r>
            <a:r>
              <a:rPr dirty="0" smtClean="0"/>
              <a:t>(</a:t>
            </a:r>
            <a:r>
              <a:rPr dirty="0" err="1"/>
              <a:t>Ethereum</a:t>
            </a:r>
            <a:r>
              <a:rPr dirty="0"/>
              <a:t>, Solana, </a:t>
            </a:r>
            <a:r>
              <a:rPr lang="sr-Cyrl-RS" dirty="0" smtClean="0"/>
              <a:t>итд</a:t>
            </a:r>
            <a:r>
              <a:rPr dirty="0" smtClean="0"/>
              <a:t>.)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 </a:t>
            </a:r>
            <a:r>
              <a:rPr dirty="0"/>
              <a:t>Multimodal </a:t>
            </a:r>
            <a:r>
              <a:rPr lang="sr-Cyrl-RS" dirty="0" smtClean="0"/>
              <a:t>анализа</a:t>
            </a:r>
            <a:r>
              <a:rPr dirty="0" smtClean="0"/>
              <a:t> (</a:t>
            </a:r>
            <a:r>
              <a:rPr lang="sr-Cyrl-RS" dirty="0" smtClean="0"/>
              <a:t>текст</a:t>
            </a:r>
            <a:r>
              <a:rPr dirty="0" smtClean="0"/>
              <a:t> </a:t>
            </a:r>
            <a:r>
              <a:rPr dirty="0"/>
              <a:t>+ </a:t>
            </a:r>
            <a:r>
              <a:rPr lang="sr-Cyrl-RS" dirty="0" smtClean="0"/>
              <a:t>слике са </a:t>
            </a:r>
            <a:r>
              <a:rPr dirty="0" smtClean="0"/>
              <a:t>Twitter-</a:t>
            </a:r>
            <a:r>
              <a:rPr lang="sr-Cyrl-RS" dirty="0" smtClean="0"/>
              <a:t>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 </a:t>
            </a:r>
            <a:r>
              <a:rPr lang="sr-Cyrl-RS" dirty="0" smtClean="0"/>
              <a:t>Оптимизација</a:t>
            </a:r>
            <a:r>
              <a:rPr dirty="0" smtClean="0"/>
              <a:t> </a:t>
            </a:r>
            <a:r>
              <a:rPr dirty="0"/>
              <a:t>BERT </a:t>
            </a:r>
            <a:r>
              <a:rPr lang="sr-Cyrl-RS" dirty="0" smtClean="0"/>
              <a:t>модела</a:t>
            </a:r>
            <a:r>
              <a:rPr dirty="0" smtClean="0"/>
              <a:t> </a:t>
            </a:r>
            <a:r>
              <a:rPr dirty="0"/>
              <a:t>(</a:t>
            </a:r>
            <a:r>
              <a:rPr dirty="0" err="1"/>
              <a:t>DistilBERT</a:t>
            </a:r>
            <a:r>
              <a:rPr dirty="0"/>
              <a:t>, lightweight </a:t>
            </a:r>
            <a:r>
              <a:rPr lang="sr-Cyrl-RS" dirty="0" smtClean="0"/>
              <a:t>верзије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 </a:t>
            </a:r>
            <a:r>
              <a:rPr dirty="0"/>
              <a:t>Deploy </a:t>
            </a:r>
            <a:r>
              <a:rPr lang="sr-Cyrl-RS" dirty="0" smtClean="0"/>
              <a:t>као</a:t>
            </a:r>
            <a:r>
              <a:rPr dirty="0" smtClean="0"/>
              <a:t> </a:t>
            </a:r>
            <a:r>
              <a:rPr dirty="0"/>
              <a:t>REST API </a:t>
            </a:r>
            <a:r>
              <a:rPr lang="sr-Cyrl-RS" dirty="0" smtClean="0"/>
              <a:t>за екстерни приступ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 </a:t>
            </a:r>
            <a:r>
              <a:rPr lang="sr-Cyrl-RS" dirty="0" smtClean="0"/>
              <a:t>Интеграција са </a:t>
            </a:r>
            <a:r>
              <a:rPr dirty="0" smtClean="0"/>
              <a:t>trading </a:t>
            </a:r>
            <a:r>
              <a:rPr lang="sr-Cyrl-RS" dirty="0"/>
              <a:t>платформама за аутоматске </a:t>
            </a:r>
            <a:r>
              <a:rPr lang="sr-Cyrl-RS" dirty="0" smtClean="0"/>
              <a:t>сигнале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 </a:t>
            </a:r>
            <a:r>
              <a:rPr lang="ru-RU" dirty="0"/>
              <a:t>Експерименти са новим </a:t>
            </a:r>
            <a:r>
              <a:rPr lang="en-US" dirty="0" smtClean="0"/>
              <a:t>transformer</a:t>
            </a:r>
            <a:r>
              <a:rPr lang="ru-RU" dirty="0" smtClean="0"/>
              <a:t> </a:t>
            </a:r>
            <a:r>
              <a:rPr lang="ru-RU" dirty="0"/>
              <a:t>архитектурама </a:t>
            </a:r>
            <a:r>
              <a:rPr dirty="0" smtClean="0"/>
              <a:t>(</a:t>
            </a:r>
            <a:r>
              <a:rPr dirty="0"/>
              <a:t>GPT-4, </a:t>
            </a:r>
            <a:r>
              <a:rPr dirty="0" err="1"/>
              <a:t>LLaMA</a:t>
            </a:r>
            <a:r>
              <a:rPr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5486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Хвала на пажњи!</a:t>
            </a:r>
            <a:endParaRPr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47158" y="5029200"/>
            <a:ext cx="424969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DD5C8"/>
                </a:solidFill>
              </a:defRPr>
            </a:pPr>
            <a:r>
              <a:rPr lang="sr-Cyrl-RS" sz="2000" b="1" dirty="0" smtClean="0"/>
              <a:t>Борис Летић</a:t>
            </a:r>
            <a:r>
              <a:rPr sz="2000" b="1" dirty="0" smtClean="0"/>
              <a:t> </a:t>
            </a:r>
            <a:r>
              <a:rPr sz="2000" b="1" dirty="0"/>
              <a:t>| RA 207/2021</a:t>
            </a:r>
            <a:br>
              <a:rPr sz="2000" b="1" dirty="0"/>
            </a:br>
            <a:r>
              <a:rPr lang="sr-Cyrl-RS" sz="2000" b="1" dirty="0" smtClean="0"/>
              <a:t>Факултет техничких наука, Нови Сад</a:t>
            </a:r>
            <a:endParaRPr sz="20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3484485" y="3719155"/>
            <a:ext cx="2175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4000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Питања?</a:t>
            </a:r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993</Words>
  <Application>Microsoft Office PowerPoint</Application>
  <PresentationFormat>On-screen Show (4:3)</PresentationFormat>
  <Paragraphs>188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Win 11</cp:lastModifiedBy>
  <cp:revision>43</cp:revision>
  <dcterms:created xsi:type="dcterms:W3CDTF">2013-01-27T09:14:16Z</dcterms:created>
  <dcterms:modified xsi:type="dcterms:W3CDTF">2025-11-15T02:31:12Z</dcterms:modified>
  <cp:category/>
</cp:coreProperties>
</file>